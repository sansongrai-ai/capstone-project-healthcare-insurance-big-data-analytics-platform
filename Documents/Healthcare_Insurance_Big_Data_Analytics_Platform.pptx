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media/image8.jpg" ContentType="image/jpg"/>
  <Override PartName="/ppt/media/image9.jpg" ContentType="image/jpg"/>
  <Override PartName="/ppt/media/image10.jpg" ContentType="image/jpg"/>
  <Override PartName="/ppt/media/image11.jpg" ContentType="image/jpg"/>
  <Override PartName="/ppt/media/image12.jpg" ContentType="image/jpg"/>
  <Override PartName="/ppt/media/image13.jpg" ContentType="image/jpg"/>
  <Override PartName="/ppt/media/image15.jpg" ContentType="image/jpg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13" r:id="rId4"/>
  </p:sldMasterIdLst>
  <p:notesMasterIdLst>
    <p:notesMasterId r:id="rId16"/>
  </p:notesMasterIdLst>
  <p:handoutMasterIdLst>
    <p:handoutMasterId r:id="rId17"/>
  </p:handoutMasterIdLst>
  <p:sldIdLst>
    <p:sldId id="258" r:id="rId5"/>
    <p:sldId id="261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2E03A35D-21AA-4236-9407-70FB316F2383}">
          <p14:sldIdLst>
            <p14:sldId id="258"/>
            <p14:sldId id="261"/>
            <p14:sldId id="260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1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30"/>
  </p:normalViewPr>
  <p:slideViewPr>
    <p:cSldViewPr showGuides="1">
      <p:cViewPr varScale="1">
        <p:scale>
          <a:sx n="70" d="100"/>
          <a:sy n="70" d="100"/>
        </p:scale>
        <p:origin x="536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1892"/>
    </p:cViewPr>
  </p:sorterViewPr>
  <p:notesViewPr>
    <p:cSldViewPr>
      <p:cViewPr varScale="1">
        <p:scale>
          <a:sx n="90" d="100"/>
          <a:sy n="90" d="100"/>
        </p:scale>
        <p:origin x="292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shab Rai" userId="89d4a082ae4c4d1d" providerId="LiveId" clId="{4A88D96A-DFB1-4896-87A4-AC8186D095D5}"/>
    <pc:docChg chg="undo custSel addSld delSld modSld sldOrd addSection modSection">
      <pc:chgData name="Keshab Rai" userId="89d4a082ae4c4d1d" providerId="LiveId" clId="{4A88D96A-DFB1-4896-87A4-AC8186D095D5}" dt="2026-06-30T00:35:05.937" v="788" actId="14100"/>
      <pc:docMkLst>
        <pc:docMk/>
      </pc:docMkLst>
      <pc:sldChg chg="addSp delSp modSp mod chgLayout">
        <pc:chgData name="Keshab Rai" userId="89d4a082ae4c4d1d" providerId="LiveId" clId="{4A88D96A-DFB1-4896-87A4-AC8186D095D5}" dt="2026-06-28T15:37:06.363" v="745" actId="20577"/>
        <pc:sldMkLst>
          <pc:docMk/>
          <pc:sldMk cId="2812452602" sldId="258"/>
        </pc:sldMkLst>
        <pc:spChg chg="mod ord">
          <ac:chgData name="Keshab Rai" userId="89d4a082ae4c4d1d" providerId="LiveId" clId="{4A88D96A-DFB1-4896-87A4-AC8186D095D5}" dt="2026-06-28T15:37:06.363" v="745" actId="20577"/>
          <ac:spMkLst>
            <pc:docMk/>
            <pc:sldMk cId="2812452602" sldId="258"/>
            <ac:spMk id="3" creationId="{6A0CBC46-76F5-CB3F-9BF0-DE7BBD3C6643}"/>
          </ac:spMkLst>
        </pc:spChg>
        <pc:spChg chg="mod ord">
          <ac:chgData name="Keshab Rai" userId="89d4a082ae4c4d1d" providerId="LiveId" clId="{4A88D96A-DFB1-4896-87A4-AC8186D095D5}" dt="2026-06-28T15:29:09.949" v="731"/>
          <ac:spMkLst>
            <pc:docMk/>
            <pc:sldMk cId="2812452602" sldId="258"/>
            <ac:spMk id="4" creationId="{5CA5C5AD-7278-E875-15B7-835123AC22E5}"/>
          </ac:spMkLst>
        </pc:spChg>
        <pc:spChg chg="mod">
          <ac:chgData name="Keshab Rai" userId="89d4a082ae4c4d1d" providerId="LiveId" clId="{4A88D96A-DFB1-4896-87A4-AC8186D095D5}" dt="2026-06-28T15:30:20.503" v="734"/>
          <ac:spMkLst>
            <pc:docMk/>
            <pc:sldMk cId="2812452602" sldId="258"/>
            <ac:spMk id="8" creationId="{1DBCE49A-4A49-1A2E-1148-52B9F61D9FDF}"/>
          </ac:spMkLst>
        </pc:spChg>
      </pc:sldChg>
      <pc:sldChg chg="addSp delSp modSp new mod ord">
        <pc:chgData name="Keshab Rai" userId="89d4a082ae4c4d1d" providerId="LiveId" clId="{4A88D96A-DFB1-4896-87A4-AC8186D095D5}" dt="2026-06-28T15:30:33.937" v="735"/>
        <pc:sldMkLst>
          <pc:docMk/>
          <pc:sldMk cId="3420889496" sldId="260"/>
        </pc:sldMkLst>
        <pc:spChg chg="mod">
          <ac:chgData name="Keshab Rai" userId="89d4a082ae4c4d1d" providerId="LiveId" clId="{4A88D96A-DFB1-4896-87A4-AC8186D095D5}" dt="2026-06-28T13:36:44.806" v="20" actId="255"/>
          <ac:spMkLst>
            <pc:docMk/>
            <pc:sldMk cId="3420889496" sldId="260"/>
            <ac:spMk id="2" creationId="{B022EA5B-7599-0533-A475-ED0DB69C1423}"/>
          </ac:spMkLst>
        </pc:spChg>
        <pc:spChg chg="mod">
          <ac:chgData name="Keshab Rai" userId="89d4a082ae4c4d1d" providerId="LiveId" clId="{4A88D96A-DFB1-4896-87A4-AC8186D095D5}" dt="2026-06-28T13:40:43.960" v="55" actId="14100"/>
          <ac:spMkLst>
            <pc:docMk/>
            <pc:sldMk cId="3420889496" sldId="260"/>
            <ac:spMk id="3" creationId="{A6736866-9521-174D-63EA-ADDED0F8943A}"/>
          </ac:spMkLst>
        </pc:spChg>
        <pc:spChg chg="mod">
          <ac:chgData name="Keshab Rai" userId="89d4a082ae4c4d1d" providerId="LiveId" clId="{4A88D96A-DFB1-4896-87A4-AC8186D095D5}" dt="2026-06-28T15:30:33.937" v="735"/>
          <ac:spMkLst>
            <pc:docMk/>
            <pc:sldMk cId="3420889496" sldId="260"/>
            <ac:spMk id="8" creationId="{52F0507E-7FA4-67FE-6572-F529D5CC569E}"/>
          </ac:spMkLst>
        </pc:spChg>
        <pc:picChg chg="mod topLvl">
          <ac:chgData name="Keshab Rai" userId="89d4a082ae4c4d1d" providerId="LiveId" clId="{4A88D96A-DFB1-4896-87A4-AC8186D095D5}" dt="2026-06-28T14:39:57.313" v="526" actId="1076"/>
          <ac:picMkLst>
            <pc:docMk/>
            <pc:sldMk cId="3420889496" sldId="260"/>
            <ac:picMk id="7" creationId="{D07017BC-77C5-927C-7197-80031DD927FF}"/>
          </ac:picMkLst>
        </pc:picChg>
      </pc:sldChg>
      <pc:sldChg chg="addSp delSp modSp new mod ord">
        <pc:chgData name="Keshab Rai" userId="89d4a082ae4c4d1d" providerId="LiveId" clId="{4A88D96A-DFB1-4896-87A4-AC8186D095D5}" dt="2026-06-28T14:40:31.836" v="529" actId="1076"/>
        <pc:sldMkLst>
          <pc:docMk/>
          <pc:sldMk cId="816860887" sldId="261"/>
        </pc:sldMkLst>
        <pc:spChg chg="mod">
          <ac:chgData name="Keshab Rai" userId="89d4a082ae4c4d1d" providerId="LiveId" clId="{4A88D96A-DFB1-4896-87A4-AC8186D095D5}" dt="2026-06-28T14:26:09.197" v="524" actId="20577"/>
          <ac:spMkLst>
            <pc:docMk/>
            <pc:sldMk cId="816860887" sldId="261"/>
            <ac:spMk id="2" creationId="{C11F102D-EA67-1054-83D4-5D5C7D714037}"/>
          </ac:spMkLst>
        </pc:spChg>
        <pc:picChg chg="add mod">
          <ac:chgData name="Keshab Rai" userId="89d4a082ae4c4d1d" providerId="LiveId" clId="{4A88D96A-DFB1-4896-87A4-AC8186D095D5}" dt="2026-06-28T14:40:31.836" v="529" actId="1076"/>
          <ac:picMkLst>
            <pc:docMk/>
            <pc:sldMk cId="816860887" sldId="261"/>
            <ac:picMk id="4" creationId="{9A7D9E97-6ED4-ADD3-B318-1803E21CC382}"/>
          </ac:picMkLst>
        </pc:picChg>
      </pc:sldChg>
      <pc:sldChg chg="addSp delSp modSp add mod">
        <pc:chgData name="Keshab Rai" userId="89d4a082ae4c4d1d" providerId="LiveId" clId="{4A88D96A-DFB1-4896-87A4-AC8186D095D5}" dt="2026-06-28T21:32:38.928" v="776" actId="20577"/>
        <pc:sldMkLst>
          <pc:docMk/>
          <pc:sldMk cId="3054691558" sldId="262"/>
        </pc:sldMkLst>
        <pc:spChg chg="mod">
          <ac:chgData name="Keshab Rai" userId="89d4a082ae4c4d1d" providerId="LiveId" clId="{4A88D96A-DFB1-4896-87A4-AC8186D095D5}" dt="2026-06-28T13:48:37.684" v="118" actId="14100"/>
          <ac:spMkLst>
            <pc:docMk/>
            <pc:sldMk cId="3054691558" sldId="262"/>
            <ac:spMk id="2" creationId="{70E3698B-C5C6-ACE9-4EDE-E391EF5CCE0E}"/>
          </ac:spMkLst>
        </pc:spChg>
        <pc:spChg chg="mod">
          <ac:chgData name="Keshab Rai" userId="89d4a082ae4c4d1d" providerId="LiveId" clId="{4A88D96A-DFB1-4896-87A4-AC8186D095D5}" dt="2026-06-28T21:32:38.928" v="776" actId="20577"/>
          <ac:spMkLst>
            <pc:docMk/>
            <pc:sldMk cId="3054691558" sldId="262"/>
            <ac:spMk id="3" creationId="{B6F28A5A-1E56-32BA-F4B1-9884CEFBF5F4}"/>
          </ac:spMkLst>
        </pc:spChg>
        <pc:spChg chg="mod">
          <ac:chgData name="Keshab Rai" userId="89d4a082ae4c4d1d" providerId="LiveId" clId="{4A88D96A-DFB1-4896-87A4-AC8186D095D5}" dt="2026-06-28T15:30:42.798" v="736"/>
          <ac:spMkLst>
            <pc:docMk/>
            <pc:sldMk cId="3054691558" sldId="262"/>
            <ac:spMk id="7" creationId="{0307E007-E78A-0771-D5BD-71B9A20584A3}"/>
          </ac:spMkLst>
        </pc:spChg>
        <pc:picChg chg="add mod">
          <ac:chgData name="Keshab Rai" userId="89d4a082ae4c4d1d" providerId="LiveId" clId="{4A88D96A-DFB1-4896-87A4-AC8186D095D5}" dt="2026-06-28T14:40:18.869" v="528" actId="1076"/>
          <ac:picMkLst>
            <pc:docMk/>
            <pc:sldMk cId="3054691558" sldId="262"/>
            <ac:picMk id="8" creationId="{43C986EA-F387-BB57-289C-AB87A1ABE5C5}"/>
          </ac:picMkLst>
        </pc:picChg>
      </pc:sldChg>
      <pc:sldChg chg="addSp delSp modSp add mod">
        <pc:chgData name="Keshab Rai" userId="89d4a082ae4c4d1d" providerId="LiveId" clId="{4A88D96A-DFB1-4896-87A4-AC8186D095D5}" dt="2026-06-28T15:30:50.656" v="737"/>
        <pc:sldMkLst>
          <pc:docMk/>
          <pc:sldMk cId="1596573345" sldId="263"/>
        </pc:sldMkLst>
        <pc:spChg chg="mod">
          <ac:chgData name="Keshab Rai" userId="89d4a082ae4c4d1d" providerId="LiveId" clId="{4A88D96A-DFB1-4896-87A4-AC8186D095D5}" dt="2026-06-28T13:52:46.479" v="152"/>
          <ac:spMkLst>
            <pc:docMk/>
            <pc:sldMk cId="1596573345" sldId="263"/>
            <ac:spMk id="2" creationId="{7E01D07C-E7A8-71C7-E8D9-59868AE16B8A}"/>
          </ac:spMkLst>
        </pc:spChg>
        <pc:spChg chg="mod">
          <ac:chgData name="Keshab Rai" userId="89d4a082ae4c4d1d" providerId="LiveId" clId="{4A88D96A-DFB1-4896-87A4-AC8186D095D5}" dt="2026-06-28T13:54:38.411" v="172" actId="20577"/>
          <ac:spMkLst>
            <pc:docMk/>
            <pc:sldMk cId="1596573345" sldId="263"/>
            <ac:spMk id="3" creationId="{C310C332-8571-F82D-F7FC-1BACA2FC8E29}"/>
          </ac:spMkLst>
        </pc:spChg>
        <pc:spChg chg="mod">
          <ac:chgData name="Keshab Rai" userId="89d4a082ae4c4d1d" providerId="LiveId" clId="{4A88D96A-DFB1-4896-87A4-AC8186D095D5}" dt="2026-06-28T13:53:01.790" v="154"/>
          <ac:spMkLst>
            <pc:docMk/>
            <pc:sldMk cId="1596573345" sldId="263"/>
            <ac:spMk id="5" creationId="{2B528D3A-4DEF-6785-6C92-20EC5499336D}"/>
          </ac:spMkLst>
        </pc:spChg>
        <pc:spChg chg="mod">
          <ac:chgData name="Keshab Rai" userId="89d4a082ae4c4d1d" providerId="LiveId" clId="{4A88D96A-DFB1-4896-87A4-AC8186D095D5}" dt="2026-06-28T15:30:50.656" v="737"/>
          <ac:spMkLst>
            <pc:docMk/>
            <pc:sldMk cId="1596573345" sldId="263"/>
            <ac:spMk id="10" creationId="{6DA1BA98-168F-0DD3-4AE7-17242E5DD169}"/>
          </ac:spMkLst>
        </pc:spChg>
        <pc:grpChg chg="add mod">
          <ac:chgData name="Keshab Rai" userId="89d4a082ae4c4d1d" providerId="LiveId" clId="{4A88D96A-DFB1-4896-87A4-AC8186D095D5}" dt="2026-06-28T13:53:15.851" v="158" actId="14100"/>
          <ac:grpSpMkLst>
            <pc:docMk/>
            <pc:sldMk cId="1596573345" sldId="263"/>
            <ac:grpSpMk id="4" creationId="{3FCC8C26-A12C-BA91-49F0-5A891ED0FE8A}"/>
          </ac:grpSpMkLst>
        </pc:grpChg>
        <pc:picChg chg="mod">
          <ac:chgData name="Keshab Rai" userId="89d4a082ae4c4d1d" providerId="LiveId" clId="{4A88D96A-DFB1-4896-87A4-AC8186D095D5}" dt="2026-06-28T13:53:01.790" v="154"/>
          <ac:picMkLst>
            <pc:docMk/>
            <pc:sldMk cId="1596573345" sldId="263"/>
            <ac:picMk id="6" creationId="{9F329D76-3255-D41C-990E-1F1BED6EAC53}"/>
          </ac:picMkLst>
        </pc:picChg>
      </pc:sldChg>
      <pc:sldChg chg="addSp delSp modSp add mod">
        <pc:chgData name="Keshab Rai" userId="89d4a082ae4c4d1d" providerId="LiveId" clId="{4A88D96A-DFB1-4896-87A4-AC8186D095D5}" dt="2026-06-28T21:34:26.379" v="777" actId="20577"/>
        <pc:sldMkLst>
          <pc:docMk/>
          <pc:sldMk cId="3948120317" sldId="264"/>
        </pc:sldMkLst>
        <pc:spChg chg="mod">
          <ac:chgData name="Keshab Rai" userId="89d4a082ae4c4d1d" providerId="LiveId" clId="{4A88D96A-DFB1-4896-87A4-AC8186D095D5}" dt="2026-06-28T13:58:30.977" v="210" actId="14100"/>
          <ac:spMkLst>
            <pc:docMk/>
            <pc:sldMk cId="3948120317" sldId="264"/>
            <ac:spMk id="2" creationId="{B173A508-2E78-A548-37C2-55CF3195F464}"/>
          </ac:spMkLst>
        </pc:spChg>
        <pc:spChg chg="mod">
          <ac:chgData name="Keshab Rai" userId="89d4a082ae4c4d1d" providerId="LiveId" clId="{4A88D96A-DFB1-4896-87A4-AC8186D095D5}" dt="2026-06-28T21:34:26.379" v="777" actId="20577"/>
          <ac:spMkLst>
            <pc:docMk/>
            <pc:sldMk cId="3948120317" sldId="264"/>
            <ac:spMk id="3" creationId="{EB20A6BB-7F07-B0DA-43AC-53DA54593B4B}"/>
          </ac:spMkLst>
        </pc:spChg>
        <pc:spChg chg="mod">
          <ac:chgData name="Keshab Rai" userId="89d4a082ae4c4d1d" providerId="LiveId" clId="{4A88D96A-DFB1-4896-87A4-AC8186D095D5}" dt="2026-06-28T13:58:47.717" v="212"/>
          <ac:spMkLst>
            <pc:docMk/>
            <pc:sldMk cId="3948120317" sldId="264"/>
            <ac:spMk id="8" creationId="{1A007332-9186-3F53-BA83-A81635AFBB5E}"/>
          </ac:spMkLst>
        </pc:spChg>
        <pc:spChg chg="mod">
          <ac:chgData name="Keshab Rai" userId="89d4a082ae4c4d1d" providerId="LiveId" clId="{4A88D96A-DFB1-4896-87A4-AC8186D095D5}" dt="2026-06-28T15:30:57.951" v="738"/>
          <ac:spMkLst>
            <pc:docMk/>
            <pc:sldMk cId="3948120317" sldId="264"/>
            <ac:spMk id="10" creationId="{B1CF08D5-8F45-D4EE-5B29-8B41DEB7EC27}"/>
          </ac:spMkLst>
        </pc:spChg>
        <pc:grpChg chg="add mod">
          <ac:chgData name="Keshab Rai" userId="89d4a082ae4c4d1d" providerId="LiveId" clId="{4A88D96A-DFB1-4896-87A4-AC8186D095D5}" dt="2026-06-28T13:58:59" v="215" actId="14100"/>
          <ac:grpSpMkLst>
            <pc:docMk/>
            <pc:sldMk cId="3948120317" sldId="264"/>
            <ac:grpSpMk id="7" creationId="{865FDDB5-5CD2-6643-B0EE-029B7567D43C}"/>
          </ac:grpSpMkLst>
        </pc:grpChg>
        <pc:picChg chg="mod">
          <ac:chgData name="Keshab Rai" userId="89d4a082ae4c4d1d" providerId="LiveId" clId="{4A88D96A-DFB1-4896-87A4-AC8186D095D5}" dt="2026-06-28T13:59:17.076" v="216" actId="14100"/>
          <ac:picMkLst>
            <pc:docMk/>
            <pc:sldMk cId="3948120317" sldId="264"/>
            <ac:picMk id="9" creationId="{38AA92CE-C327-15AB-CA76-9077E742B632}"/>
          </ac:picMkLst>
        </pc:picChg>
      </pc:sldChg>
      <pc:sldChg chg="addSp delSp modSp add mod">
        <pc:chgData name="Keshab Rai" userId="89d4a082ae4c4d1d" providerId="LiveId" clId="{4A88D96A-DFB1-4896-87A4-AC8186D095D5}" dt="2026-06-28T15:47:43.948" v="765" actId="20577"/>
        <pc:sldMkLst>
          <pc:docMk/>
          <pc:sldMk cId="2531561425" sldId="265"/>
        </pc:sldMkLst>
        <pc:spChg chg="mod">
          <ac:chgData name="Keshab Rai" userId="89d4a082ae4c4d1d" providerId="LiveId" clId="{4A88D96A-DFB1-4896-87A4-AC8186D095D5}" dt="2026-06-28T14:03:13.229" v="280"/>
          <ac:spMkLst>
            <pc:docMk/>
            <pc:sldMk cId="2531561425" sldId="265"/>
            <ac:spMk id="2" creationId="{A0590D80-9055-116F-4220-6F0826C85A99}"/>
          </ac:spMkLst>
        </pc:spChg>
        <pc:spChg chg="mod">
          <ac:chgData name="Keshab Rai" userId="89d4a082ae4c4d1d" providerId="LiveId" clId="{4A88D96A-DFB1-4896-87A4-AC8186D095D5}" dt="2026-06-28T15:47:43.948" v="765" actId="20577"/>
          <ac:spMkLst>
            <pc:docMk/>
            <pc:sldMk cId="2531561425" sldId="265"/>
            <ac:spMk id="3" creationId="{E7C3241B-13B5-66E7-C994-23B8DDE8A48D}"/>
          </ac:spMkLst>
        </pc:spChg>
        <pc:spChg chg="mod">
          <ac:chgData name="Keshab Rai" userId="89d4a082ae4c4d1d" providerId="LiveId" clId="{4A88D96A-DFB1-4896-87A4-AC8186D095D5}" dt="2026-06-28T14:05:25.938" v="305" actId="14100"/>
          <ac:spMkLst>
            <pc:docMk/>
            <pc:sldMk cId="2531561425" sldId="265"/>
            <ac:spMk id="5" creationId="{938D4478-06BE-80C4-904A-3E01ED1548B3}"/>
          </ac:spMkLst>
        </pc:spChg>
        <pc:grpChg chg="add mod">
          <ac:chgData name="Keshab Rai" userId="89d4a082ae4c4d1d" providerId="LiveId" clId="{4A88D96A-DFB1-4896-87A4-AC8186D095D5}" dt="2026-06-28T14:05:21.929" v="304" actId="14100"/>
          <ac:grpSpMkLst>
            <pc:docMk/>
            <pc:sldMk cId="2531561425" sldId="265"/>
            <ac:grpSpMk id="4" creationId="{E53F1319-EA7E-4FB3-C3FB-00934746511F}"/>
          </ac:grpSpMkLst>
        </pc:grpChg>
        <pc:picChg chg="mod">
          <ac:chgData name="Keshab Rai" userId="89d4a082ae4c4d1d" providerId="LiveId" clId="{4A88D96A-DFB1-4896-87A4-AC8186D095D5}" dt="2026-06-28T14:03:26.894" v="282"/>
          <ac:picMkLst>
            <pc:docMk/>
            <pc:sldMk cId="2531561425" sldId="265"/>
            <ac:picMk id="6" creationId="{C89B5697-D7EE-8131-8A6E-6A4085BD0F55}"/>
          </ac:picMkLst>
        </pc:picChg>
      </pc:sldChg>
      <pc:sldChg chg="addSp delSp modSp add mod">
        <pc:chgData name="Keshab Rai" userId="89d4a082ae4c4d1d" providerId="LiveId" clId="{4A88D96A-DFB1-4896-87A4-AC8186D095D5}" dt="2026-06-28T14:40:53.715" v="530" actId="1076"/>
        <pc:sldMkLst>
          <pc:docMk/>
          <pc:sldMk cId="255446009" sldId="266"/>
        </pc:sldMkLst>
        <pc:spChg chg="mod">
          <ac:chgData name="Keshab Rai" userId="89d4a082ae4c4d1d" providerId="LiveId" clId="{4A88D96A-DFB1-4896-87A4-AC8186D095D5}" dt="2026-06-28T14:06:23.862" v="344"/>
          <ac:spMkLst>
            <pc:docMk/>
            <pc:sldMk cId="255446009" sldId="266"/>
            <ac:spMk id="2" creationId="{EA11B49F-23E5-1575-B92E-A4A29A14CE2D}"/>
          </ac:spMkLst>
        </pc:spChg>
        <pc:spChg chg="mod">
          <ac:chgData name="Keshab Rai" userId="89d4a082ae4c4d1d" providerId="LiveId" clId="{4A88D96A-DFB1-4896-87A4-AC8186D095D5}" dt="2026-06-28T14:11:24.426" v="372" actId="20577"/>
          <ac:spMkLst>
            <pc:docMk/>
            <pc:sldMk cId="255446009" sldId="266"/>
            <ac:spMk id="3" creationId="{A746F432-D99F-6E02-EE2E-25DE064D002F}"/>
          </ac:spMkLst>
        </pc:spChg>
        <pc:spChg chg="topLvl">
          <ac:chgData name="Keshab Rai" userId="89d4a082ae4c4d1d" providerId="LiveId" clId="{4A88D96A-DFB1-4896-87A4-AC8186D095D5}" dt="2026-06-28T14:06:36.169" v="345" actId="478"/>
          <ac:spMkLst>
            <pc:docMk/>
            <pc:sldMk cId="255446009" sldId="266"/>
            <ac:spMk id="5" creationId="{6221D4EF-19D0-53A2-179B-90CD837580A7}"/>
          </ac:spMkLst>
        </pc:spChg>
        <pc:spChg chg="mod">
          <ac:chgData name="Keshab Rai" userId="89d4a082ae4c4d1d" providerId="LiveId" clId="{4A88D96A-DFB1-4896-87A4-AC8186D095D5}" dt="2026-06-28T14:06:37.092" v="346"/>
          <ac:spMkLst>
            <pc:docMk/>
            <pc:sldMk cId="255446009" sldId="266"/>
            <ac:spMk id="8" creationId="{F16FD609-2D53-8F92-96F1-5B0E2B9B89CB}"/>
          </ac:spMkLst>
        </pc:spChg>
        <pc:grpChg chg="add mod">
          <ac:chgData name="Keshab Rai" userId="89d4a082ae4c4d1d" providerId="LiveId" clId="{4A88D96A-DFB1-4896-87A4-AC8186D095D5}" dt="2026-06-28T14:40:53.715" v="530" actId="1076"/>
          <ac:grpSpMkLst>
            <pc:docMk/>
            <pc:sldMk cId="255446009" sldId="266"/>
            <ac:grpSpMk id="7" creationId="{7721CD48-BCF7-3F90-BEF4-04743C35A3A3}"/>
          </ac:grpSpMkLst>
        </pc:grpChg>
        <pc:picChg chg="mod">
          <ac:chgData name="Keshab Rai" userId="89d4a082ae4c4d1d" providerId="LiveId" clId="{4A88D96A-DFB1-4896-87A4-AC8186D095D5}" dt="2026-06-28T14:06:37.092" v="346"/>
          <ac:picMkLst>
            <pc:docMk/>
            <pc:sldMk cId="255446009" sldId="266"/>
            <ac:picMk id="9" creationId="{8A2D2A3F-41C2-F6E2-70EF-C40B5ADBB865}"/>
          </ac:picMkLst>
        </pc:picChg>
      </pc:sldChg>
      <pc:sldChg chg="addSp delSp modSp add mod">
        <pc:chgData name="Keshab Rai" userId="89d4a082ae4c4d1d" providerId="LiveId" clId="{4A88D96A-DFB1-4896-87A4-AC8186D095D5}" dt="2026-06-30T00:35:05.937" v="788" actId="14100"/>
        <pc:sldMkLst>
          <pc:docMk/>
          <pc:sldMk cId="1257583456" sldId="267"/>
        </pc:sldMkLst>
        <pc:spChg chg="mod">
          <ac:chgData name="Keshab Rai" userId="89d4a082ae4c4d1d" providerId="LiveId" clId="{4A88D96A-DFB1-4896-87A4-AC8186D095D5}" dt="2026-06-28T15:57:05.020" v="773" actId="20578"/>
          <ac:spMkLst>
            <pc:docMk/>
            <pc:sldMk cId="1257583456" sldId="267"/>
            <ac:spMk id="2" creationId="{21D67C54-9BB1-27BC-3FA0-6FC093673106}"/>
          </ac:spMkLst>
        </pc:spChg>
        <pc:spChg chg="mod">
          <ac:chgData name="Keshab Rai" userId="89d4a082ae4c4d1d" providerId="LiveId" clId="{4A88D96A-DFB1-4896-87A4-AC8186D095D5}" dt="2026-06-28T14:17:26.051" v="396" actId="20577"/>
          <ac:spMkLst>
            <pc:docMk/>
            <pc:sldMk cId="1257583456" sldId="267"/>
            <ac:spMk id="3" creationId="{1FDED98F-61CF-88A1-B930-3FEE63E06904}"/>
          </ac:spMkLst>
        </pc:spChg>
        <pc:spChg chg="mod">
          <ac:chgData name="Keshab Rai" userId="89d4a082ae4c4d1d" providerId="LiveId" clId="{4A88D96A-DFB1-4896-87A4-AC8186D095D5}" dt="2026-06-28T14:15:48.476" v="378"/>
          <ac:spMkLst>
            <pc:docMk/>
            <pc:sldMk cId="1257583456" sldId="267"/>
            <ac:spMk id="6" creationId="{A6940348-037A-54F6-72D4-013C5711111D}"/>
          </ac:spMkLst>
        </pc:spChg>
        <pc:spChg chg="mod">
          <ac:chgData name="Keshab Rai" userId="89d4a082ae4c4d1d" providerId="LiveId" clId="{4A88D96A-DFB1-4896-87A4-AC8186D095D5}" dt="2026-06-28T15:31:06.832" v="739"/>
          <ac:spMkLst>
            <pc:docMk/>
            <pc:sldMk cId="1257583456" sldId="267"/>
            <ac:spMk id="11" creationId="{BC22E974-C5AC-BCE2-7181-6A11AD0A370D}"/>
          </ac:spMkLst>
        </pc:spChg>
        <pc:grpChg chg="add del mod">
          <ac:chgData name="Keshab Rai" userId="89d4a082ae4c4d1d" providerId="LiveId" clId="{4A88D96A-DFB1-4896-87A4-AC8186D095D5}" dt="2026-06-30T00:33:59.735" v="779" actId="478"/>
          <ac:grpSpMkLst>
            <pc:docMk/>
            <pc:sldMk cId="1257583456" sldId="267"/>
            <ac:grpSpMk id="4" creationId="{F1D43EA6-3FCF-D5F6-F82A-57CFA58B994A}"/>
          </ac:grpSpMkLst>
        </pc:grpChg>
        <pc:picChg chg="add del mod">
          <ac:chgData name="Keshab Rai" userId="89d4a082ae4c4d1d" providerId="LiveId" clId="{4A88D96A-DFB1-4896-87A4-AC8186D095D5}" dt="2026-06-30T00:34:25.422" v="784" actId="478"/>
          <ac:picMkLst>
            <pc:docMk/>
            <pc:sldMk cId="1257583456" sldId="267"/>
            <ac:picMk id="9" creationId="{BC4ECF0F-C2D2-2B4F-3DBF-7195583616C9}"/>
          </ac:picMkLst>
        </pc:picChg>
        <pc:picChg chg="add mod">
          <ac:chgData name="Keshab Rai" userId="89d4a082ae4c4d1d" providerId="LiveId" clId="{4A88D96A-DFB1-4896-87A4-AC8186D095D5}" dt="2026-06-30T00:35:05.937" v="788" actId="14100"/>
          <ac:picMkLst>
            <pc:docMk/>
            <pc:sldMk cId="1257583456" sldId="267"/>
            <ac:picMk id="13" creationId="{E6164314-0475-25D6-EC2D-28A1F4DB6B89}"/>
          </ac:picMkLst>
        </pc:picChg>
      </pc:sldChg>
      <pc:sldChg chg="addSp delSp modSp add mod">
        <pc:chgData name="Keshab Rai" userId="89d4a082ae4c4d1d" providerId="LiveId" clId="{4A88D96A-DFB1-4896-87A4-AC8186D095D5}" dt="2026-06-28T15:31:13.671" v="740"/>
        <pc:sldMkLst>
          <pc:docMk/>
          <pc:sldMk cId="1520829892" sldId="268"/>
        </pc:sldMkLst>
        <pc:spChg chg="mod">
          <ac:chgData name="Keshab Rai" userId="89d4a082ae4c4d1d" providerId="LiveId" clId="{4A88D96A-DFB1-4896-87A4-AC8186D095D5}" dt="2026-06-28T14:20:09.608" v="437"/>
          <ac:spMkLst>
            <pc:docMk/>
            <pc:sldMk cId="1520829892" sldId="268"/>
            <ac:spMk id="2" creationId="{963F4E94-14F8-BE3D-8344-07667281EA19}"/>
          </ac:spMkLst>
        </pc:spChg>
        <pc:spChg chg="mod">
          <ac:chgData name="Keshab Rai" userId="89d4a082ae4c4d1d" providerId="LiveId" clId="{4A88D96A-DFB1-4896-87A4-AC8186D095D5}" dt="2026-06-28T14:23:00.400" v="469" actId="20577"/>
          <ac:spMkLst>
            <pc:docMk/>
            <pc:sldMk cId="1520829892" sldId="268"/>
            <ac:spMk id="3" creationId="{7696B2FE-119D-159E-4F39-FA8B90563C4F}"/>
          </ac:spMkLst>
        </pc:spChg>
        <pc:spChg chg="mod">
          <ac:chgData name="Keshab Rai" userId="89d4a082ae4c4d1d" providerId="LiveId" clId="{4A88D96A-DFB1-4896-87A4-AC8186D095D5}" dt="2026-06-28T14:20:31.936" v="441"/>
          <ac:spMkLst>
            <pc:docMk/>
            <pc:sldMk cId="1520829892" sldId="268"/>
            <ac:spMk id="8" creationId="{2A5D9922-94C8-3DD1-DBD2-FB5F77F1D5CC}"/>
          </ac:spMkLst>
        </pc:spChg>
        <pc:spChg chg="mod">
          <ac:chgData name="Keshab Rai" userId="89d4a082ae4c4d1d" providerId="LiveId" clId="{4A88D96A-DFB1-4896-87A4-AC8186D095D5}" dt="2026-06-28T15:31:13.671" v="740"/>
          <ac:spMkLst>
            <pc:docMk/>
            <pc:sldMk cId="1520829892" sldId="268"/>
            <ac:spMk id="11" creationId="{49F16EEE-28DB-C053-3874-B724F3662AAD}"/>
          </ac:spMkLst>
        </pc:spChg>
        <pc:grpChg chg="add mod">
          <ac:chgData name="Keshab Rai" userId="89d4a082ae4c4d1d" providerId="LiveId" clId="{4A88D96A-DFB1-4896-87A4-AC8186D095D5}" dt="2026-06-28T14:21:32.912" v="454" actId="1076"/>
          <ac:grpSpMkLst>
            <pc:docMk/>
            <pc:sldMk cId="1520829892" sldId="268"/>
            <ac:grpSpMk id="7" creationId="{9494C7C9-7D70-8DC5-F68E-357C0CE152B4}"/>
          </ac:grpSpMkLst>
        </pc:grpChg>
        <pc:picChg chg="mod">
          <ac:chgData name="Keshab Rai" userId="89d4a082ae4c4d1d" providerId="LiveId" clId="{4A88D96A-DFB1-4896-87A4-AC8186D095D5}" dt="2026-06-28T14:20:31.936" v="441"/>
          <ac:picMkLst>
            <pc:docMk/>
            <pc:sldMk cId="1520829892" sldId="268"/>
            <ac:picMk id="9" creationId="{979081D2-58B3-52C1-9B17-179EC1CCA9F2}"/>
          </ac:picMkLst>
        </pc:picChg>
      </pc:sldChg>
      <pc:sldChg chg="modSp new mod">
        <pc:chgData name="Keshab Rai" userId="89d4a082ae4c4d1d" providerId="LiveId" clId="{4A88D96A-DFB1-4896-87A4-AC8186D095D5}" dt="2026-06-28T21:39:56.595" v="778" actId="20577"/>
        <pc:sldMkLst>
          <pc:docMk/>
          <pc:sldMk cId="4116506057" sldId="269"/>
        </pc:sldMkLst>
        <pc:spChg chg="mod">
          <ac:chgData name="Keshab Rai" userId="89d4a082ae4c4d1d" providerId="LiveId" clId="{4A88D96A-DFB1-4896-87A4-AC8186D095D5}" dt="2026-06-28T14:24:52.165" v="512"/>
          <ac:spMkLst>
            <pc:docMk/>
            <pc:sldMk cId="4116506057" sldId="269"/>
            <ac:spMk id="2" creationId="{FDFB497D-CFA1-A3B4-6D22-5C522D962884}"/>
          </ac:spMkLst>
        </pc:spChg>
        <pc:spChg chg="mod">
          <ac:chgData name="Keshab Rai" userId="89d4a082ae4c4d1d" providerId="LiveId" clId="{4A88D96A-DFB1-4896-87A4-AC8186D095D5}" dt="2026-06-28T21:39:56.595" v="778" actId="20577"/>
          <ac:spMkLst>
            <pc:docMk/>
            <pc:sldMk cId="4116506057" sldId="269"/>
            <ac:spMk id="3" creationId="{674A51AD-0304-FDC4-8915-8FE72F29B77F}"/>
          </ac:spMkLst>
        </pc:spChg>
        <pc:spChg chg="mod">
          <ac:chgData name="Keshab Rai" userId="89d4a082ae4c4d1d" providerId="LiveId" clId="{4A88D96A-DFB1-4896-87A4-AC8186D095D5}" dt="2026-06-28T15:31:22.393" v="741"/>
          <ac:spMkLst>
            <pc:docMk/>
            <pc:sldMk cId="4116506057" sldId="269"/>
            <ac:spMk id="7" creationId="{5B270027-5F8A-2520-2647-C20B17952FC5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FB14B2-CD52-9E84-B3E7-49A90F3A7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AE5F9-C39F-2ECF-0C06-D0122807D4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3FF85-4E34-4546-B772-76DFA4A6051B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F3243-F9C0-85BE-2E9C-191F612CFE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BE2E3-8654-B63F-B7D6-9549069476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F7180-4EDD-4E08-9775-7398C11D6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4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CC398-6116-4BD2-9FAD-9822FDA158BE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FF46E-6B43-41F9-9272-B566D03A2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4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932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685800"/>
            <a:ext cx="10055354" cy="4007406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29A3647E-D38D-4EA6-ADC1-75AA53F898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27002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Capstone Project Tech Stack: Python, PySpark, PyCharm, AWS S3, Amazon Redshift Serverless, Git, JiraJira.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89A2444-D82B-40C0-8001-4A744EF746D4}" type="datetime1">
              <a:rPr lang="en-US" smtClean="0"/>
              <a:t>6/29/2026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0459DEE-913E-5261-4E77-AF3657E3AE0B}"/>
              </a:ext>
            </a:extLst>
          </p:cNvPr>
          <p:cNvSpPr/>
          <p:nvPr/>
        </p:nvSpPr>
        <p:spPr>
          <a:xfrm>
            <a:off x="11250895" y="4648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2F9BC4F-9D44-3587-056B-336E1457A6E2}"/>
              </a:ext>
            </a:extLst>
          </p:cNvPr>
          <p:cNvSpPr/>
          <p:nvPr/>
        </p:nvSpPr>
        <p:spPr>
          <a:xfrm>
            <a:off x="685800" y="4998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09D5EC-E7EA-22BC-7C88-C33F509CB5CF}"/>
              </a:ext>
            </a:extLst>
          </p:cNvPr>
          <p:cNvSpPr/>
          <p:nvPr/>
        </p:nvSpPr>
        <p:spPr>
          <a:xfrm>
            <a:off x="10998565" y="4730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98E9758-F942-96A0-231D-A25933E4CA82}"/>
              </a:ext>
            </a:extLst>
          </p:cNvPr>
          <p:cNvSpPr/>
          <p:nvPr/>
        </p:nvSpPr>
        <p:spPr>
          <a:xfrm>
            <a:off x="10976145" y="4730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1502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10963655" cy="762001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828800"/>
            <a:ext cx="10963656" cy="434340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400"/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Capstone Project Tech Stack: Python, PySpark, PyCharm, AWS S3, Amazon Redshift Serverless, Git, JiraJira.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45266C5D-F1DF-4727-9044-737C1386DE47}" type="datetime1">
              <a:rPr lang="en-US" smtClean="0"/>
              <a:t>6/29/2026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317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2C6C0090-085A-1FB3-B3B7-D8DA73A125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4172" y="4419600"/>
            <a:ext cx="10963657" cy="135224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6834447-947D-F9FA-98D1-8BF0FC477A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4172" y="5943600"/>
            <a:ext cx="10963657" cy="6096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2573ACD2-30C7-6922-D14F-66F23CBA377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41148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3852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A813B312-A2CE-16E4-D28B-8DDFF55273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6746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4846D76D-B1D3-9330-420A-6ED740BDB9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767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25">
            <a:extLst>
              <a:ext uri="{FF2B5EF4-FFF2-40B4-BE49-F238E27FC236}">
                <a16:creationId xmlns:a16="http://schemas.microsoft.com/office/drawing/2014/main" id="{982E949F-6B9B-8268-EB83-127C78D4350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6746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Capstone Project Tech Stack: Python, PySpark, PyCharm, AWS S3, Amazon Redshift Serverless, Git, JiraJira.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35138" y="6343955"/>
            <a:ext cx="145890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1A78AB9E-44B9-4216-B6CC-D222F702939E}" type="datetime1">
              <a:rPr lang="en-US" smtClean="0"/>
              <a:t>6/29/2026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D53745E-5DC2-F332-24A5-4F8F509E820B}"/>
              </a:ext>
            </a:extLst>
          </p:cNvPr>
          <p:cNvCxnSpPr/>
          <p:nvPr userDrawn="1"/>
        </p:nvCxnSpPr>
        <p:spPr>
          <a:xfrm>
            <a:off x="4479797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3702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4076" y="685801"/>
            <a:ext cx="4872227" cy="27432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552" y="5277548"/>
            <a:ext cx="4873752" cy="894639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74A0A082-71CB-3C57-3B74-102869C0CAC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02552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Capstone Project Tech Stack: Python, PySpark, PyCharm, AWS S3, Amazon Redshift Serverless, Git, JiraJira.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18883" y="6343955"/>
            <a:ext cx="147516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507B1092-DF1D-48AC-AB82-858E33D950B0}" type="datetime1">
              <a:rPr lang="en-US" smtClean="0"/>
              <a:t>6/29/2026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D373E34-3B51-EAD4-B8AB-256ACA4B8D8C}"/>
              </a:ext>
            </a:extLst>
          </p:cNvPr>
          <p:cNvCxnSpPr>
            <a:cxnSpLocks/>
          </p:cNvCxnSpPr>
          <p:nvPr userDrawn="1"/>
        </p:nvCxnSpPr>
        <p:spPr>
          <a:xfrm>
            <a:off x="6704076" y="4876800"/>
            <a:ext cx="487375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48603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2BC951B-4746-1854-C399-682CFE142A50}"/>
              </a:ext>
            </a:extLst>
          </p:cNvPr>
          <p:cNvCxnSpPr/>
          <p:nvPr userDrawn="1"/>
        </p:nvCxnSpPr>
        <p:spPr>
          <a:xfrm>
            <a:off x="612646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6" y="6338703"/>
            <a:ext cx="2070484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Capstone Project Tech Stack: Python, PySpark, PyCharm, AWS S3, Amazon Redshift Serverless, Git, JiraJira.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887367" y="6338703"/>
            <a:ext cx="139257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37E21FC-95C5-4122-BDEA-126BA2110E1E}" type="datetime1">
              <a:rPr lang="en-US" smtClean="0"/>
              <a:t>6/29/2026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279945" y="6342301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E193964F-665E-F49A-D553-C01524CDE0C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302749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963613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384F42E-A74C-773B-7B96-F942975CEC14}"/>
              </a:ext>
            </a:extLst>
          </p:cNvPr>
          <p:cNvSpPr/>
          <p:nvPr/>
        </p:nvSpPr>
        <p:spPr>
          <a:xfrm>
            <a:off x="11250895" y="5144929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441727F-19A3-14E1-5EAC-C550CEB6A0D1}"/>
              </a:ext>
            </a:extLst>
          </p:cNvPr>
          <p:cNvSpPr/>
          <p:nvPr/>
        </p:nvSpPr>
        <p:spPr>
          <a:xfrm>
            <a:off x="685800" y="5495424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38F4BC9-7EC1-BB35-827A-12F5DE411031}"/>
              </a:ext>
            </a:extLst>
          </p:cNvPr>
          <p:cNvSpPr/>
          <p:nvPr/>
        </p:nvSpPr>
        <p:spPr>
          <a:xfrm>
            <a:off x="10998565" y="5227361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4B01422-D65E-4B59-B62B-467B2E896592}"/>
              </a:ext>
            </a:extLst>
          </p:cNvPr>
          <p:cNvSpPr/>
          <p:nvPr/>
        </p:nvSpPr>
        <p:spPr>
          <a:xfrm>
            <a:off x="10976145" y="5227366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1600200"/>
            <a:ext cx="10483927" cy="349287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9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931314"/>
            <a:ext cx="10483927" cy="816864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234111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Capstone Project Tech Stack: Python, PySpark, PyCharm, AWS S3, Amazon Redshift Serverless, Git, JiraJira.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234111"/>
            <a:ext cx="2875064" cy="365125"/>
          </a:xfrm>
        </p:spPr>
        <p:txBody>
          <a:bodyPr>
            <a:noAutofit/>
          </a:bodyPr>
          <a:lstStyle/>
          <a:p>
            <a:fld id="{99862765-FA2A-4C6A-A886-C15C7F992D2C}" type="datetime1">
              <a:rPr lang="en-US" smtClean="0"/>
              <a:t>6/29/2026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234111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Line">
            <a:extLst>
              <a:ext uri="{FF2B5EF4-FFF2-40B4-BE49-F238E27FC236}">
                <a16:creationId xmlns:a16="http://schemas.microsoft.com/office/drawing/2014/main" id="{92FB147E-E273-E8B6-AD8E-67F305FC22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71802" y="4038600"/>
            <a:ext cx="10923934" cy="745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931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8BBA50F-B667-1177-26B1-7D22AB66A6BE}"/>
              </a:ext>
            </a:extLst>
          </p:cNvPr>
          <p:cNvSpPr/>
          <p:nvPr/>
        </p:nvSpPr>
        <p:spPr>
          <a:xfrm>
            <a:off x="11250895" y="464515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CABC7F5-2293-EB7F-52E5-80715C8DB858}"/>
              </a:ext>
            </a:extLst>
          </p:cNvPr>
          <p:cNvSpPr/>
          <p:nvPr/>
        </p:nvSpPr>
        <p:spPr>
          <a:xfrm>
            <a:off x="685800" y="499564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A8C943-7CF3-88D6-95B0-95E7B412DE0F}"/>
              </a:ext>
            </a:extLst>
          </p:cNvPr>
          <p:cNvSpPr/>
          <p:nvPr/>
        </p:nvSpPr>
        <p:spPr>
          <a:xfrm>
            <a:off x="10998565" y="472758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FB0A8E7-2867-2D3A-F6B7-15ED02236CE8}"/>
              </a:ext>
            </a:extLst>
          </p:cNvPr>
          <p:cNvSpPr/>
          <p:nvPr/>
        </p:nvSpPr>
        <p:spPr>
          <a:xfrm>
            <a:off x="10976145" y="472758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31536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Capstone Project Tech Stack: Python, PySpark, PyCharm, AWS S3, Amazon Redshift Serverless, Git, JiraJira.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4A8556B0-D9A8-4B4B-955B-54577AAE6BC1}" type="datetime1">
              <a:rPr lang="en-US" smtClean="0"/>
              <a:t>6/29/2026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53A7BE5-EAB2-BB8C-D7FC-D78B8A5AF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798"/>
            <a:ext cx="10058400" cy="335584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393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6AC1F45-7001-8B9F-DFF6-7AB9BDFFEEB2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4C7D192-E835-0A48-0A40-F45D83E2583F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FB376E1-8198-EB00-587E-C647BCF364D4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F94599F-6DE1-A082-E9E1-D732956078AB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" y="990600"/>
            <a:ext cx="10058400" cy="502920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11000" dirty="0"/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Capstone Project Tech Stack: Python, PySpark, PyCharm, AWS S3, Amazon Redshift Serverless, Git, JiraJira.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>
            <a:noAutofit/>
          </a:bodyPr>
          <a:lstStyle/>
          <a:p>
            <a:fld id="{AE8B8C19-11A8-4A44-BE9B-5B7065645334}" type="datetime1">
              <a:rPr lang="en-US" smtClean="0"/>
              <a:t>6/29/2026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6496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61C10CD-8205-284F-2921-9485E7A98F0D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5DFD7E-DC78-4573-96D7-845D38E0273E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FCC10B5-4890-B43F-DE24-5200F4E75EEB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D5586E6-D520-6A63-5060-BF06C136BEF5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" y="990600"/>
            <a:ext cx="10058400" cy="502920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11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Capstone Project Tech Stack: Python, PySpark, PyCharm, AWS S3, Amazon Redshift Serverless, Git, JiraJira.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03E6517-D44A-4A22-B244-E28161249CBC}" type="datetime1">
              <a:rPr lang="en-US" smtClean="0"/>
              <a:t>6/29/2026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8995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FADE904-3C65-5E48-6B12-22998C2ADF5E}"/>
              </a:ext>
            </a:extLst>
          </p:cNvPr>
          <p:cNvSpPr/>
          <p:nvPr/>
        </p:nvSpPr>
        <p:spPr>
          <a:xfrm>
            <a:off x="11250895" y="217232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16963C8-87F3-6B42-F30F-1915935FA752}"/>
              </a:ext>
            </a:extLst>
          </p:cNvPr>
          <p:cNvSpPr/>
          <p:nvPr/>
        </p:nvSpPr>
        <p:spPr>
          <a:xfrm>
            <a:off x="685800" y="252281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F0C119A-1D9E-D43F-8A7E-D24C1B551326}"/>
              </a:ext>
            </a:extLst>
          </p:cNvPr>
          <p:cNvSpPr/>
          <p:nvPr/>
        </p:nvSpPr>
        <p:spPr>
          <a:xfrm>
            <a:off x="10998565" y="225475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2018CE4-7594-0746-8B7E-8DEC95CB8822}"/>
              </a:ext>
            </a:extLst>
          </p:cNvPr>
          <p:cNvSpPr/>
          <p:nvPr/>
        </p:nvSpPr>
        <p:spPr>
          <a:xfrm>
            <a:off x="10976145" y="225475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185" y="685800"/>
            <a:ext cx="9141415" cy="1532788"/>
          </a:xfr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185" y="2958705"/>
            <a:ext cx="9141415" cy="3213494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 marL="914400" indent="0"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Capstone Project Tech Stack: Python, PySpark, PyCharm, AWS S3, Amazon Redshift Serverless, Git, JiraJira.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66A0591A-334B-4251-9C43-03EDFF887DDC}" type="datetime1">
              <a:rPr lang="en-US" smtClean="0"/>
              <a:t>6/29/2026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324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685800"/>
            <a:ext cx="5480304" cy="1818050"/>
          </a:xfrm>
        </p:spPr>
        <p:txBody>
          <a:bodyPr anchor="t">
            <a:noAutofit/>
          </a:bodyPr>
          <a:lstStyle>
            <a:lvl1pPr>
              <a:defRPr sz="90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AF861DB-D5EF-3FC9-7595-570C8498D7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7725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3189770"/>
            <a:ext cx="5480304" cy="2982429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9C1A172-F829-D2DE-BDB2-B86E6ACE1886}"/>
              </a:ext>
            </a:extLst>
          </p:cNvPr>
          <p:cNvCxnSpPr>
            <a:cxnSpLocks/>
          </p:cNvCxnSpPr>
          <p:nvPr userDrawn="1"/>
        </p:nvCxnSpPr>
        <p:spPr>
          <a:xfrm>
            <a:off x="6095999" y="2743200"/>
            <a:ext cx="54772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343955"/>
            <a:ext cx="2985400" cy="365125"/>
          </a:xfrm>
        </p:spPr>
        <p:txBody>
          <a:bodyPr>
            <a:noAutofit/>
          </a:bodyPr>
          <a:lstStyle/>
          <a:p>
            <a:r>
              <a:rPr lang="en-US"/>
              <a:t>Capstone Project Tech Stack: Python, PySpark, PyCharm, AWS S3, Amazon Redshift Serverless, Git, JiraJira.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>
            <a:noAutofit/>
          </a:bodyPr>
          <a:lstStyle/>
          <a:p>
            <a:fld id="{DDDA8757-C6AD-436A-914F-9E0D9143F774}" type="datetime1">
              <a:rPr lang="en-US" smtClean="0"/>
              <a:t>6/29/2026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0176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824824"/>
            <a:ext cx="6397753" cy="1527976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3505200"/>
            <a:ext cx="4568953" cy="164519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Capstone Project Tech Stack: Python, PySpark, PyCharm, AWS S3, Amazon Redshift Serverless, Git, JiraJira.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5339D8A-8E84-49DD-8327-13F58820B908}" type="datetime1">
              <a:rPr lang="en-US" smtClean="0"/>
              <a:t>6/29/2026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89251BE-373D-9B13-B9E2-73DFEBE40118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98E032-CDEE-AA9B-44A7-CE5EBB6948C0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C778913-9F6C-8FDD-B123-16048004EC56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6283179-133D-0E64-C08A-4D59C8B2F9DB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5455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85800"/>
            <a:ext cx="3654553" cy="365760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1" y="685800"/>
            <a:ext cx="4572000" cy="36576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 Project Tech Stack: Python, PySpark, PyCharm, AWS S3, Amazon Redshift Serverless, Git, JiraJira.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0B326-57B3-4E30-AE0E-452B4D64C325}" type="datetime1">
              <a:rPr lang="en-US" smtClean="0"/>
              <a:t>6/29/2026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662DADE-FB83-6BD4-1D72-E22F0783A67E}"/>
              </a:ext>
            </a:extLst>
          </p:cNvPr>
          <p:cNvSpPr/>
          <p:nvPr/>
        </p:nvSpPr>
        <p:spPr>
          <a:xfrm>
            <a:off x="11254003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A7CD6A0-64A5-5058-DFD2-8DD1FAF7BEEB}"/>
              </a:ext>
            </a:extLst>
          </p:cNvPr>
          <p:cNvSpPr/>
          <p:nvPr/>
        </p:nvSpPr>
        <p:spPr>
          <a:xfrm>
            <a:off x="10866791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E8E4321-3109-17F5-C530-4108033F07F5}"/>
              </a:ext>
            </a:extLst>
          </p:cNvPr>
          <p:cNvSpPr/>
          <p:nvPr/>
        </p:nvSpPr>
        <p:spPr>
          <a:xfrm>
            <a:off x="11003886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AAD0450-E765-A0E1-7C56-37246411FDD0}"/>
              </a:ext>
            </a:extLst>
          </p:cNvPr>
          <p:cNvSpPr/>
          <p:nvPr/>
        </p:nvSpPr>
        <p:spPr>
          <a:xfrm>
            <a:off x="10981626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4037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05E2B5C-398A-3F2F-4BCC-FFF94D44632F}"/>
              </a:ext>
            </a:extLst>
          </p:cNvPr>
          <p:cNvSpPr/>
          <p:nvPr/>
        </p:nvSpPr>
        <p:spPr>
          <a:xfrm>
            <a:off x="11250895" y="5407944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2897460-3A7D-EC5C-76B9-2725193E10AF}"/>
              </a:ext>
            </a:extLst>
          </p:cNvPr>
          <p:cNvSpPr/>
          <p:nvPr/>
        </p:nvSpPr>
        <p:spPr>
          <a:xfrm>
            <a:off x="685800" y="5758439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742E741-698E-A2B8-7BD5-9DE89C610C2F}"/>
              </a:ext>
            </a:extLst>
          </p:cNvPr>
          <p:cNvSpPr/>
          <p:nvPr/>
        </p:nvSpPr>
        <p:spPr>
          <a:xfrm>
            <a:off x="10998565" y="5490376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A04551B-2E70-1734-DA15-F26ABEC9D9D0}"/>
              </a:ext>
            </a:extLst>
          </p:cNvPr>
          <p:cNvSpPr/>
          <p:nvPr/>
        </p:nvSpPr>
        <p:spPr>
          <a:xfrm>
            <a:off x="10976145" y="5490381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408358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045390" cy="4083579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 Project Tech Stack: Python, PySpark, PyCharm, AWS S3, Amazon Redshift Serverless, Git, JiraJira.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F0BBE-974C-42AF-AB5C-7C36A380020F}" type="datetime1">
              <a:rPr lang="en-US" smtClean="0"/>
              <a:t>6/29/2026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4667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85B71F7-9EDC-DB6C-D713-7ACE3A2EADC0}"/>
              </a:ext>
            </a:extLst>
          </p:cNvPr>
          <p:cNvSpPr/>
          <p:nvPr/>
        </p:nvSpPr>
        <p:spPr>
          <a:xfrm>
            <a:off x="968457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842DDA-AD76-0064-2B85-CB145F4CE540}"/>
              </a:ext>
            </a:extLst>
          </p:cNvPr>
          <p:cNvSpPr/>
          <p:nvPr/>
        </p:nvSpPr>
        <p:spPr>
          <a:xfrm>
            <a:off x="581245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5E58AC6-620E-20FA-E8F5-375DA2977A43}"/>
              </a:ext>
            </a:extLst>
          </p:cNvPr>
          <p:cNvSpPr/>
          <p:nvPr/>
        </p:nvSpPr>
        <p:spPr>
          <a:xfrm>
            <a:off x="718340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EA14E2E-5098-2800-A72C-138A5840365C}"/>
              </a:ext>
            </a:extLst>
          </p:cNvPr>
          <p:cNvSpPr/>
          <p:nvPr/>
        </p:nvSpPr>
        <p:spPr>
          <a:xfrm>
            <a:off x="696080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685800"/>
            <a:ext cx="3652523" cy="410246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394703" cy="545500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Capstone Project Tech Stack: Python, PySpark, PyCharm, AWS S3, Amazon Redshift Serverless, Git, JiraJira.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B7CECCE4-CEAB-4CBD-BA55-C9D8E8A3660B}" type="datetime1">
              <a:rPr lang="en-US" smtClean="0"/>
              <a:t>6/29/2026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2417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94DE839-4377-D8CF-B2A4-D0C3E0F49821}"/>
              </a:ext>
            </a:extLst>
          </p:cNvPr>
          <p:cNvSpPr/>
          <p:nvPr/>
        </p:nvSpPr>
        <p:spPr>
          <a:xfrm>
            <a:off x="968457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A5E5478-C025-8AD6-B7FE-E95C356E887C}"/>
              </a:ext>
            </a:extLst>
          </p:cNvPr>
          <p:cNvSpPr/>
          <p:nvPr/>
        </p:nvSpPr>
        <p:spPr>
          <a:xfrm>
            <a:off x="581245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0EF54C8-1B9C-18F9-4647-D96F1A37BC05}"/>
              </a:ext>
            </a:extLst>
          </p:cNvPr>
          <p:cNvSpPr/>
          <p:nvPr/>
        </p:nvSpPr>
        <p:spPr>
          <a:xfrm>
            <a:off x="718340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C1B42D9-101B-9822-0BAF-F80E962BB4CD}"/>
              </a:ext>
            </a:extLst>
          </p:cNvPr>
          <p:cNvSpPr/>
          <p:nvPr/>
        </p:nvSpPr>
        <p:spPr>
          <a:xfrm>
            <a:off x="696080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85800"/>
            <a:ext cx="3654554" cy="4550251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394703" cy="546401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Capstone Project Tech Stack: Python, PySpark, PyCharm, AWS S3, Amazon Redshift Serverless, Git, JiraJira.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7572C5E-8039-4DD3-9C4A-9B2CB1B65A0E}" type="datetime1">
              <a:rPr lang="en-US" smtClean="0"/>
              <a:t>6/29/2026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1670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C2E340-F7F3-5093-0E0A-41015057E720}"/>
              </a:ext>
            </a:extLst>
          </p:cNvPr>
          <p:cNvCxnSpPr/>
          <p:nvPr userDrawn="1"/>
        </p:nvCxnSpPr>
        <p:spPr>
          <a:xfrm>
            <a:off x="5191026" y="2362200"/>
            <a:ext cx="63916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1026" y="685807"/>
            <a:ext cx="6391374" cy="1372001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0729" y="2743204"/>
            <a:ext cx="6395573" cy="3428989"/>
          </a:xfrm>
        </p:spPr>
        <p:txBody>
          <a:bodyPr>
            <a:noAutofit/>
          </a:bodyPr>
          <a:lstStyle>
            <a:lvl1pPr>
              <a:defRPr sz="1400">
                <a:solidFill>
                  <a:schemeClr val="tx2"/>
                </a:solidFill>
              </a:defRPr>
            </a:lvl1pPr>
            <a:lvl2pPr>
              <a:defRPr sz="14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91026" y="6343825"/>
            <a:ext cx="336490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Capstone Project Tech Stack: Python, PySpark, PyCharm, AWS S3, Amazon Redshift Serverless, Git, JiraJira.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030713" y="6343955"/>
            <a:ext cx="206080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15CB8A3-1573-445A-889F-430D8E1E2787}" type="datetime1">
              <a:rPr lang="en-US" smtClean="0"/>
              <a:t>6/29/2026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8936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81EABF-B6BB-1FBF-962C-A6A6C8C2418A}"/>
              </a:ext>
            </a:extLst>
          </p:cNvPr>
          <p:cNvCxnSpPr/>
          <p:nvPr userDrawn="1"/>
        </p:nvCxnSpPr>
        <p:spPr>
          <a:xfrm>
            <a:off x="612647" y="2359152"/>
            <a:ext cx="633679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4"/>
            <a:ext cx="6391374" cy="1371996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3" y="2742645"/>
            <a:ext cx="6391247" cy="3429551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774" y="6346865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Capstone Project Tech Stack: Python, PySpark, PyCharm, AWS S3, Amazon Redshift Serverless, Git, JiraJira.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886895" y="6346865"/>
            <a:ext cx="1607270" cy="365125"/>
          </a:xfrm>
        </p:spPr>
        <p:txBody>
          <a:bodyPr>
            <a:noAutofit/>
          </a:bodyPr>
          <a:lstStyle/>
          <a:p>
            <a:fld id="{0450481D-3642-41FA-8E4A-7FCAEA086A0E}" type="datetime1">
              <a:rPr lang="en-US" smtClean="0"/>
              <a:t>6/29/2026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530932" y="634686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35EC8126-6431-465A-8AC3-0118DD8825B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31546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85427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8303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D2B02E8B-EB97-8158-B585-0E0E95CF40C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18303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724397" y="6343954"/>
            <a:ext cx="3422906" cy="365125"/>
          </a:xfrm>
        </p:spPr>
        <p:txBody>
          <a:bodyPr>
            <a:noAutofit/>
          </a:bodyPr>
          <a:lstStyle/>
          <a:p>
            <a:r>
              <a:rPr lang="en-US"/>
              <a:t>Capstone Project Tech Stack: Python, PySpark, PyCharm, AWS S3, Amazon Redshift Serverless, Git, JiraJira.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>
            <a:noAutofit/>
          </a:bodyPr>
          <a:lstStyle/>
          <a:p>
            <a:fld id="{D92AB0B0-06A9-4983-8E86-72FF10768D2D}" type="datetime1">
              <a:rPr lang="en-US" smtClean="0"/>
              <a:t>6/29/2026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6216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6870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Capstone Project Tech Stack: Python, PySpark, PyCharm, AWS S3, Amazon Redshift Serverless, Git, JiraJira.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115853" y="6346870"/>
            <a:ext cx="2925587" cy="365125"/>
          </a:xfrm>
        </p:spPr>
        <p:txBody>
          <a:bodyPr>
            <a:noAutofit/>
          </a:bodyPr>
          <a:lstStyle/>
          <a:p>
            <a:fld id="{B0391B1C-786A-4ABB-B0F5-7120C46538C5}" type="datetime1">
              <a:rPr lang="en-US" smtClean="0"/>
              <a:t>6/29/2026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346870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362236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0" y="685800"/>
            <a:ext cx="4561665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EEFBBBB-A526-5A93-34B8-A377087586A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20736" y="2286000"/>
            <a:ext cx="4561665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20736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Capstone Project Tech Stack: Python, PySpark, PyCharm, AWS S3, Amazon Redshift Serverless, Git, JiraJira.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75067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525DF20-A946-4DE5-8FDD-AAE49260FAF5}" type="datetime1">
              <a:rPr lang="en-US" smtClean="0"/>
              <a:t>6/29/2026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6992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72002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599" y="2286000"/>
            <a:ext cx="4561666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3C6055EC-0CB7-A026-AE8C-74A36F768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599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Capstone Project Tech Stack: Python, PySpark, PyCharm, AWS S3, Amazon Redshift Serverless, Git, JiraJira.</a:t>
            </a:r>
          </a:p>
        </p:txBody>
      </p: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AE86096B-57D4-1243-A86D-1D5E7DC3A7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63930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E058097-3F18-4368-8BF3-FB6D0428D174}" type="datetime1">
              <a:rPr lang="en-US" smtClean="0"/>
              <a:t>6/29/2026</a:t>
            </a:fld>
            <a:endParaRPr lang="en-US"/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A98A8E55-200E-96B4-1462-6DA457A20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5959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48233842-32AB-C53C-CA20-8101D4E63DC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801536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4704537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4" y="687787"/>
            <a:ext cx="3363259" cy="199339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58414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1" y="2880360"/>
            <a:ext cx="3363259" cy="3274612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212663" y="6343955"/>
            <a:ext cx="2012061" cy="365125"/>
          </a:xfrm>
        </p:spPr>
        <p:txBody>
          <a:bodyPr>
            <a:noAutofit/>
          </a:bodyPr>
          <a:lstStyle/>
          <a:p>
            <a:r>
              <a:rPr lang="en-US"/>
              <a:t>Capstone Project Tech Stack: Python, PySpark, PyCharm, AWS S3, Amazon Redshift Serverless, Git, JiraJira.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224724" y="6343955"/>
            <a:ext cx="922372" cy="365125"/>
          </a:xfrm>
        </p:spPr>
        <p:txBody>
          <a:bodyPr>
            <a:noAutofit/>
          </a:bodyPr>
          <a:lstStyle/>
          <a:p>
            <a:fld id="{E874BCB1-D05A-4599-ABB6-88976442CBE2}" type="datetime1">
              <a:rPr lang="en-US" smtClean="0"/>
              <a:t>6/29/2026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447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8" y="685800"/>
            <a:ext cx="3364992" cy="1996301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698" y="2880360"/>
            <a:ext cx="3364992" cy="323485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Footer Placeholder 8">
            <a:extLst>
              <a:ext uri="{FF2B5EF4-FFF2-40B4-BE49-F238E27FC236}">
                <a16:creationId xmlns:a16="http://schemas.microsoft.com/office/drawing/2014/main" id="{C119522C-433C-CA02-AD5B-2ABB39A4162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8" y="6343955"/>
            <a:ext cx="2012061" cy="365125"/>
          </a:xfrm>
        </p:spPr>
        <p:txBody>
          <a:bodyPr>
            <a:noAutofit/>
          </a:bodyPr>
          <a:lstStyle/>
          <a:p>
            <a:r>
              <a:rPr lang="en-US"/>
              <a:t>Capstone Project Tech Stack: Python, PySpark, PyCharm, AWS S3, Amazon Redshift Serverless, Git, JiraJira.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76C67AD-99A1-8DF0-C332-BB3E0C53717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627759" y="6343955"/>
            <a:ext cx="922372" cy="365125"/>
          </a:xfrm>
        </p:spPr>
        <p:txBody>
          <a:bodyPr>
            <a:noAutofit/>
          </a:bodyPr>
          <a:lstStyle/>
          <a:p>
            <a:fld id="{34668754-1A33-4480-AB57-1F528392B7A9}" type="datetime1">
              <a:rPr lang="en-US" smtClean="0"/>
              <a:t>6/29/2026</a:t>
            </a:fld>
            <a:endParaRPr lang="en-US" dirty="0"/>
          </a:p>
        </p:txBody>
      </p:sp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C8D2CF7B-FF7A-7960-DB96-2B1846DA41A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550131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B08A763A-F1F9-D459-6C34-39765662759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07856" y="0"/>
            <a:ext cx="758414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8196436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9200" y="685800"/>
            <a:ext cx="2748115" cy="2743200"/>
          </a:xfrm>
          <a:noFill/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487E718-4223-B4DB-C92A-99E891E642B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9200" y="3703320"/>
            <a:ext cx="2743201" cy="2476061"/>
          </a:xfrm>
          <a:noFill/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39200" y="6343955"/>
            <a:ext cx="1404460" cy="365125"/>
          </a:xfrm>
          <a:noFill/>
        </p:spPr>
        <p:txBody>
          <a:bodyPr>
            <a:noAutofit/>
          </a:bodyPr>
          <a:lstStyle/>
          <a:p>
            <a:r>
              <a:rPr lang="en-US"/>
              <a:t>Capstone Project Tech Stack: Python, PySpark, PyCharm, AWS S3, Amazon Redshift Serverless, Git, JiraJira.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CF62F04-02DB-43D9-A4C0-D6BE0B2BC787}" type="datetime1">
              <a:rPr lang="en-US" smtClean="0"/>
              <a:t>6/29/2026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  <a:noFill/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54980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685800"/>
            <a:ext cx="2748114" cy="2743200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691" y="3703320"/>
            <a:ext cx="2743200" cy="247606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644F6AEF-CB45-AC6F-F205-7AB277670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697" y="6343955"/>
            <a:ext cx="1404460" cy="365125"/>
          </a:xfrm>
        </p:spPr>
        <p:txBody>
          <a:bodyPr>
            <a:noAutofit/>
          </a:bodyPr>
          <a:lstStyle/>
          <a:p>
            <a:r>
              <a:rPr lang="en-US"/>
              <a:t>Capstone Project Tech Stack: Python, PySpark, PyCharm, AWS S3, Amazon Redshift Serverless, Git, JiraJira.</a:t>
            </a:r>
            <a:endParaRPr lang="en-US" dirty="0"/>
          </a:p>
        </p:txBody>
      </p:sp>
      <p:sp>
        <p:nvSpPr>
          <p:cNvPr id="14" name="Date Placeholder 4">
            <a:extLst>
              <a:ext uri="{FF2B5EF4-FFF2-40B4-BE49-F238E27FC236}">
                <a16:creationId xmlns:a16="http://schemas.microsoft.com/office/drawing/2014/main" id="{980DDA2F-B408-A7AF-463F-3F6ED55C1A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69019" y="6343955"/>
            <a:ext cx="85457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CDAEBEF-7EF1-4FC9-9DA3-A043CAFD007E}" type="datetime1">
              <a:rPr lang="en-US" smtClean="0"/>
              <a:t>6/29/2026</a:t>
            </a:fld>
            <a:endParaRPr lang="en-US" dirty="0"/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9C6A3F52-E7A3-B732-2650-C47F8BE25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23593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80894EEF-95B5-F8FE-9FBB-D5DFD413C06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96240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26115477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343400"/>
            <a:ext cx="4019522" cy="1159931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E0CE544-3552-FE00-5B00-942E522A2A5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38862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1600" y="4343400"/>
            <a:ext cx="6400800" cy="115993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Capstone Project Tech Stack: Python, PySpark, PyCharm, AWS S3, Amazon Redshift Serverless, Git, JiraJira.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F1F4FC86-4FF9-4C56-ADE1-E8B0BA20C95A}" type="datetime1">
              <a:rPr lang="en-US" smtClean="0"/>
              <a:t>6/29/2026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1148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3886200"/>
            <a:ext cx="3044954" cy="2245126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67200" y="3886200"/>
            <a:ext cx="7315199" cy="2245127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Capstone Project Tech Stack: Python, PySpark, PyCharm, AWS S3, Amazon Redshift Serverless, Git, JiraJira.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892FC528-C002-430A-8F90-A22F15CE2377}" type="datetime1">
              <a:rPr lang="en-US" smtClean="0"/>
              <a:t>6/29/2026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6600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3044954" cy="2035724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9158" y="685800"/>
            <a:ext cx="7315199" cy="2014665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" y="2896372"/>
            <a:ext cx="2791027" cy="365125"/>
          </a:xfrm>
        </p:spPr>
        <p:txBody>
          <a:bodyPr>
            <a:noAutofit/>
          </a:bodyPr>
          <a:lstStyle/>
          <a:p>
            <a:r>
              <a:rPr lang="en-US"/>
              <a:t>Capstone Project Tech Stack: Python, PySpark, PyCharm, AWS S3, Amazon Redshift Serverless, Git, JiraJira.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65894" y="2896372"/>
            <a:ext cx="1559379" cy="365125"/>
          </a:xfrm>
        </p:spPr>
        <p:txBody>
          <a:bodyPr>
            <a:noAutofit/>
          </a:bodyPr>
          <a:lstStyle/>
          <a:p>
            <a:fld id="{91A889F9-7783-48A8-A40D-7468C33B53F4}" type="datetime1">
              <a:rPr lang="en-US" smtClean="0"/>
              <a:t>6/29/2026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5151" y="2896372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4178283B-8F20-CAA0-928D-318B857F959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414669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767299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8"/>
            <a:ext cx="5483353" cy="1388318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651760"/>
            <a:ext cx="5483352" cy="352185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AB12E0E-A617-768A-7E0E-472481185B1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7792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C1D70B4-629A-1A3A-D1BB-D35C3AED4BAD}"/>
              </a:ext>
            </a:extLst>
          </p:cNvPr>
          <p:cNvCxnSpPr>
            <a:cxnSpLocks/>
          </p:cNvCxnSpPr>
          <p:nvPr userDrawn="1"/>
        </p:nvCxnSpPr>
        <p:spPr>
          <a:xfrm>
            <a:off x="609600" y="236222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8F922763-A12B-44C2-4F2D-AAD3B317EC9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Capstone Project Tech Stack: Python, PySpark, PyCharm, AWS S3, Amazon Redshift Serverless, Git, JiraJira.</a:t>
            </a:r>
            <a:endParaRPr lang="en-US" dirty="0"/>
          </a:p>
        </p:txBody>
      </p:sp>
      <p:sp>
        <p:nvSpPr>
          <p:cNvPr id="11" name="Date Placeholder 6">
            <a:extLst>
              <a:ext uri="{FF2B5EF4-FFF2-40B4-BE49-F238E27FC236}">
                <a16:creationId xmlns:a16="http://schemas.microsoft.com/office/drawing/2014/main" id="{88D44AB0-B4BD-5097-DB6C-0B96B75B1DA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341EFFD9-4145-45AF-B32C-B79675C149CE}" type="datetime1">
              <a:rPr lang="en-US" smtClean="0"/>
              <a:t>6/29/2026</a:t>
            </a:fld>
            <a:endParaRPr lang="en-US" dirty="0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8EA9CC9C-E71E-C316-0680-F4BD6EDC87C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340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9753" cy="898525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4E15E62-FEF2-298A-EC8D-72D59188CB27}"/>
              </a:ext>
            </a:extLst>
          </p:cNvPr>
          <p:cNvCxnSpPr>
            <a:cxnSpLocks/>
          </p:cNvCxnSpPr>
          <p:nvPr userDrawn="1"/>
        </p:nvCxnSpPr>
        <p:spPr>
          <a:xfrm>
            <a:off x="609600" y="1905000"/>
            <a:ext cx="109728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" y="2286012"/>
            <a:ext cx="5479474" cy="298765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4892D5B-0772-8929-54F9-AA16EED38E2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5575" y="2285301"/>
            <a:ext cx="4863778" cy="388618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>
            <a:noAutofit/>
          </a:bodyPr>
          <a:lstStyle/>
          <a:p>
            <a:r>
              <a:rPr lang="en-US"/>
              <a:t>Capstone Project Tech Stack: Python, PySpark, PyCharm, AWS S3, Amazon Redshift Serverless, Git, JiraJira.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>
            <a:noAutofit/>
          </a:bodyPr>
          <a:lstStyle/>
          <a:p>
            <a:fld id="{EA60A923-581C-4193-9CDF-210CDE1B82F0}" type="datetime1">
              <a:rPr lang="en-US" smtClean="0"/>
              <a:t>6/29/2026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2421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9903" y="685807"/>
            <a:ext cx="5486400" cy="138830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3F8ACB4F-E132-97B5-797E-ADFB9AC8345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6658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89903" y="2650330"/>
            <a:ext cx="5486400" cy="3521854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0415657-C9CC-A8DC-C841-09A42AC901EC}"/>
              </a:ext>
            </a:extLst>
          </p:cNvPr>
          <p:cNvCxnSpPr>
            <a:cxnSpLocks/>
          </p:cNvCxnSpPr>
          <p:nvPr userDrawn="1"/>
        </p:nvCxnSpPr>
        <p:spPr>
          <a:xfrm>
            <a:off x="6089903" y="236221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D65827FC-FBF0-2A7B-2AE9-11D916DB97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Capstone Project Tech Stack: Python, PySpark, PyCharm, AWS S3, Amazon Redshift Serverless, Git, JiraJira.</a:t>
            </a:r>
            <a:endParaRPr lang="en-US" dirty="0"/>
          </a:p>
        </p:txBody>
      </p:sp>
      <p:sp>
        <p:nvSpPr>
          <p:cNvPr id="3" name="Date Placeholder 6">
            <a:extLst>
              <a:ext uri="{FF2B5EF4-FFF2-40B4-BE49-F238E27FC236}">
                <a16:creationId xmlns:a16="http://schemas.microsoft.com/office/drawing/2014/main" id="{7D3F37AD-0904-9EC0-EFEE-899B457A453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B5A6C296-D2DE-423A-A80E-5CDF68168E2F}" type="datetime1">
              <a:rPr lang="en-US" smtClean="0"/>
              <a:t>6/29/2026</a:t>
            </a:fld>
            <a:endParaRPr lang="en-US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655EC9E8-1A84-6C33-ADB3-D40020F509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58293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64763" cy="1426798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5580E71-5349-7975-EE00-1D48FBB4552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599" y="2514600"/>
            <a:ext cx="4564763" cy="363659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90060" y="685800"/>
            <a:ext cx="5792341" cy="5465398"/>
          </a:xfrm>
        </p:spPr>
        <p:txBody>
          <a:bodyPr anchor="b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Capstone Project Tech Stack: Python, PySpark, PyCharm, AWS S3, Amazon Redshift Serverless, Git, JiraJira.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1AEA714E-D6BE-40EE-A890-A9E131C440AE}" type="datetime1">
              <a:rPr lang="en-US" smtClean="0"/>
              <a:t>6/29/2026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96221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89110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EC4665C-5805-BDA9-0EA4-387D86C88AB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2647" y="2057400"/>
            <a:ext cx="2740153" cy="4091502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1" y="2057400"/>
            <a:ext cx="7766302" cy="4091502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Capstone Project Tech Stack: Python, PySpark, PyCharm, AWS S3, Amazon Redshift Serverless, Git, JiraJira.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44DC0827-9121-4047-910C-AB7FE3E87FB8}" type="datetime1">
              <a:rPr lang="en-US" smtClean="0"/>
              <a:t>6/29/2026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01948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1DA757D-A9AE-985A-6EEE-C02E46D45DC9}"/>
              </a:ext>
            </a:extLst>
          </p:cNvPr>
          <p:cNvSpPr/>
          <p:nvPr/>
        </p:nvSpPr>
        <p:spPr>
          <a:xfrm>
            <a:off x="11250895" y="43434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71E517F-7D77-FEA1-94A2-D8522A1BF181}"/>
              </a:ext>
            </a:extLst>
          </p:cNvPr>
          <p:cNvSpPr/>
          <p:nvPr/>
        </p:nvSpPr>
        <p:spPr>
          <a:xfrm>
            <a:off x="685800" y="46938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2EAE4C-19D0-A0E4-1FDC-967BD2694E6F}"/>
              </a:ext>
            </a:extLst>
          </p:cNvPr>
          <p:cNvSpPr/>
          <p:nvPr/>
        </p:nvSpPr>
        <p:spPr>
          <a:xfrm>
            <a:off x="10998565" y="44258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7E35C93-E0FF-6186-7502-985D78DA9B28}"/>
              </a:ext>
            </a:extLst>
          </p:cNvPr>
          <p:cNvSpPr/>
          <p:nvPr/>
        </p:nvSpPr>
        <p:spPr>
          <a:xfrm>
            <a:off x="10976145" y="44258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D4E889F8-D8CB-1564-17A8-26A2F4258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02546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3B51AE5-91E2-069A-7DF2-EB394DA25E2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 algn="l" rtl="0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Capstone Project Tech Stack: Python, PySpark, PyCharm, AWS S3, Amazon Redshift Serverless, Git, JiraJira.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AA6CCBB8-BE9F-43BF-9296-41D1E4DF0E77}" type="datetime1">
              <a:rPr lang="en-US" smtClean="0"/>
              <a:t>6/29/2026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1203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E73F6F-B481-328B-CE64-8485DC66B8EA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7D968F-BFC6-694E-9A7C-A113E7DEBF65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77A14AD-A403-0816-9FED-F4E7BB405B17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C5DE6E3-5C5B-04A2-6D84-63D852F6062A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6D258FD5-5B6B-DBB1-0F00-D02C71197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859867"/>
            <a:ext cx="9144000" cy="10972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12">
            <a:extLst>
              <a:ext uri="{FF2B5EF4-FFF2-40B4-BE49-F238E27FC236}">
                <a16:creationId xmlns:a16="http://schemas.microsoft.com/office/drawing/2014/main" id="{196BB08E-5668-89FF-C0AE-D8A83C783F7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600199"/>
            <a:ext cx="9171115" cy="3259668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Capstone Project Tech Stack: Python, PySpark, PyCharm, AWS S3, Amazon Redshift Serverless, Git, JiraJira.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7135E04-5B7D-43B9-8156-D9E6CCE625AB}" type="datetime1">
              <a:rPr lang="en-US" smtClean="0"/>
              <a:t>6/29/2026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743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132C402C-8B4C-3690-6875-FE157681B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25780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C80DC0CF-9044-3D55-7D8F-4CD97232E3E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Capstone Project Tech Stack: Python, PySpark, PyCharm, AWS S3, Amazon Redshift Serverless, Git, JiraJira.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6F4BD2F-8278-48F8-BD57-7F63E6E3B41B}" type="datetime1">
              <a:rPr lang="en-US" smtClean="0"/>
              <a:t>6/29/2026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B480B90-B64C-0559-ACB2-7DBB57135C77}"/>
              </a:ext>
            </a:extLst>
          </p:cNvPr>
          <p:cNvSpPr/>
          <p:nvPr/>
        </p:nvSpPr>
        <p:spPr>
          <a:xfrm>
            <a:off x="11250895" y="456206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D2E866D-D29F-1CC5-14B2-BB24F10745FE}"/>
              </a:ext>
            </a:extLst>
          </p:cNvPr>
          <p:cNvSpPr/>
          <p:nvPr/>
        </p:nvSpPr>
        <p:spPr>
          <a:xfrm>
            <a:off x="685800" y="491255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A0DC7F-E416-CA3E-E389-945D5FA32CC9}"/>
              </a:ext>
            </a:extLst>
          </p:cNvPr>
          <p:cNvSpPr/>
          <p:nvPr/>
        </p:nvSpPr>
        <p:spPr>
          <a:xfrm>
            <a:off x="10998565" y="464449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2D9CC5C-2252-AB09-49B5-FD1BE0E74E30}"/>
              </a:ext>
            </a:extLst>
          </p:cNvPr>
          <p:cNvSpPr/>
          <p:nvPr/>
        </p:nvSpPr>
        <p:spPr>
          <a:xfrm>
            <a:off x="10976145" y="464449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0051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979D7E7-81D7-BD45-ADEC-E83F7EF73EC8}"/>
              </a:ext>
            </a:extLst>
          </p:cNvPr>
          <p:cNvSpPr/>
          <p:nvPr/>
        </p:nvSpPr>
        <p:spPr>
          <a:xfrm>
            <a:off x="11254003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6D6EAAA-843B-4F5B-47BF-3A0B75B59A45}"/>
              </a:ext>
            </a:extLst>
          </p:cNvPr>
          <p:cNvSpPr/>
          <p:nvPr/>
        </p:nvSpPr>
        <p:spPr>
          <a:xfrm>
            <a:off x="10866791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5A4CCB8-341A-D7B3-2B2F-C6943129C281}"/>
              </a:ext>
            </a:extLst>
          </p:cNvPr>
          <p:cNvSpPr/>
          <p:nvPr/>
        </p:nvSpPr>
        <p:spPr>
          <a:xfrm>
            <a:off x="11003886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A1B2662-9528-65C6-986B-EA4135BF4CA6}"/>
              </a:ext>
            </a:extLst>
          </p:cNvPr>
          <p:cNvSpPr/>
          <p:nvPr/>
        </p:nvSpPr>
        <p:spPr>
          <a:xfrm>
            <a:off x="10981626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>
            <a:noAutofit/>
          </a:bodyPr>
          <a:lstStyle>
            <a:lvl1pPr>
              <a:defRPr sz="5400" b="0" i="0" cap="all" baseline="0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09600" y="685800"/>
            <a:ext cx="10972800" cy="4514529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1pPr>
            <a:lvl2pPr marL="2286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2pPr>
            <a:lvl3pPr marL="4572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3pPr>
            <a:lvl4pPr marL="6858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4pPr>
            <a:lvl5pPr marL="9144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Capstone Project Tech Stack: Python, PySpark, PyCharm, AWS S3, Amazon Redshift Serverless, Git, JiraJira.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6A72CC0-0EDD-466B-8771-E3301BAAE56B}" type="datetime1">
              <a:rPr lang="en-US" smtClean="0"/>
              <a:t>6/29/2026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1127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0572EAA-9C03-6737-7961-89F7D9E127AC}"/>
              </a:ext>
            </a:extLst>
          </p:cNvPr>
          <p:cNvSpPr/>
          <p:nvPr/>
        </p:nvSpPr>
        <p:spPr>
          <a:xfrm>
            <a:off x="11250895" y="5430148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D2A1F66-1FB1-8357-178D-CB1C0F8B7E56}"/>
              </a:ext>
            </a:extLst>
          </p:cNvPr>
          <p:cNvSpPr/>
          <p:nvPr/>
        </p:nvSpPr>
        <p:spPr>
          <a:xfrm>
            <a:off x="685800" y="5780643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AD8E75-63C0-8CE8-7E5A-37E4E429140F}"/>
              </a:ext>
            </a:extLst>
          </p:cNvPr>
          <p:cNvSpPr/>
          <p:nvPr/>
        </p:nvSpPr>
        <p:spPr>
          <a:xfrm>
            <a:off x="10998565" y="5512580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DF1B2A2-FEB2-CC42-0F0F-71CD13535424}"/>
              </a:ext>
            </a:extLst>
          </p:cNvPr>
          <p:cNvSpPr/>
          <p:nvPr/>
        </p:nvSpPr>
        <p:spPr>
          <a:xfrm>
            <a:off x="10976145" y="5512585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>
            <a:noAutofit/>
          </a:bodyPr>
          <a:lstStyle>
            <a:lvl1pPr>
              <a:defRPr sz="5400" b="0" i="0" cap="all" baseline="0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85800"/>
            <a:ext cx="10972800" cy="4572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1pPr>
            <a:lvl2pPr marL="2286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2pPr>
            <a:lvl3pPr marL="4572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3pPr>
            <a:lvl4pPr marL="6858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4pPr>
            <a:lvl5pPr marL="9144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Capstone Project Tech Stack: Python, PySpark, PyCharm, AWS S3, Amazon Redshift Serverless, Git, JiraJira.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9CE6ABFC-14E2-4092-A5DB-A846D63D0575}" type="datetime1">
              <a:rPr lang="en-US" smtClean="0"/>
              <a:t>6/29/2026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5516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2479" y="685800"/>
            <a:ext cx="9140953" cy="2699775"/>
          </a:xfrm>
        </p:spPr>
        <p:txBody>
          <a:bodyPr anchor="t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Capstone Project Tech Stack: Python, PySpark, PyCharm, AWS S3, Amazon Redshift Serverless, Git, JiraJira.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024AA77-F63F-4C09-85AC-D26D845C67B1}" type="datetime1">
              <a:rPr lang="en-US" smtClean="0"/>
              <a:t>6/29/2026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E594965-EF4A-40C0-FED1-CF5564CED970}"/>
              </a:ext>
            </a:extLst>
          </p:cNvPr>
          <p:cNvSpPr/>
          <p:nvPr/>
        </p:nvSpPr>
        <p:spPr>
          <a:xfrm>
            <a:off x="11250895" y="456206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9DE90F9-432C-AEEC-88D5-177A0E299391}"/>
              </a:ext>
            </a:extLst>
          </p:cNvPr>
          <p:cNvSpPr/>
          <p:nvPr/>
        </p:nvSpPr>
        <p:spPr>
          <a:xfrm>
            <a:off x="685800" y="491255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8ECD3CD-C697-A46B-71F2-D64BD77C395C}"/>
              </a:ext>
            </a:extLst>
          </p:cNvPr>
          <p:cNvSpPr/>
          <p:nvPr/>
        </p:nvSpPr>
        <p:spPr>
          <a:xfrm>
            <a:off x="10998565" y="464449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46793A7-6512-567E-DAFF-BB4A63B89DC3}"/>
              </a:ext>
            </a:extLst>
          </p:cNvPr>
          <p:cNvSpPr/>
          <p:nvPr/>
        </p:nvSpPr>
        <p:spPr>
          <a:xfrm>
            <a:off x="10976145" y="464449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66A0D5A-6B2D-15B8-4FC0-30535DF01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179918211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D86F34B-87C2-AC58-5483-78C0E5DB477C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B6B59A7-7C3C-7431-CC9A-51EFBA257959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2D0661-BB9A-E751-A4EB-2C95BF96A560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09A5AB9-86E5-2BD1-8EFC-49C204619282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7" y="1600200"/>
            <a:ext cx="10055353" cy="3657601"/>
          </a:xfrm>
        </p:spPr>
        <p:txBody>
          <a:bodyPr anchor="b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Capstone Project Tech Stack: Python, PySpark, PyCharm, AWS S3, Amazon Redshift Serverless, Git, JiraJira.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3D8B8F6-5A35-4EC7-BB0E-35AA98E75BF5}" type="datetime1">
              <a:rPr lang="en-US" smtClean="0"/>
              <a:t>6/29/2026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5">
            <a:extLst>
              <a:ext uri="{FF2B5EF4-FFF2-40B4-BE49-F238E27FC236}">
                <a16:creationId xmlns:a16="http://schemas.microsoft.com/office/drawing/2014/main" id="{A4A8879E-F637-BA38-C325-517B59E125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1602196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0ED10B2-4172-93C9-B408-242DDBA504A8}"/>
              </a:ext>
            </a:extLst>
          </p:cNvPr>
          <p:cNvSpPr/>
          <p:nvPr/>
        </p:nvSpPr>
        <p:spPr>
          <a:xfrm>
            <a:off x="11250895" y="5430148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CF4AA95-C597-81F0-35EA-96B5BA7A12BB}"/>
              </a:ext>
            </a:extLst>
          </p:cNvPr>
          <p:cNvSpPr/>
          <p:nvPr/>
        </p:nvSpPr>
        <p:spPr>
          <a:xfrm>
            <a:off x="685800" y="5780643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A37871-D86F-9BA6-1D96-9B3392C2F247}"/>
              </a:ext>
            </a:extLst>
          </p:cNvPr>
          <p:cNvSpPr/>
          <p:nvPr/>
        </p:nvSpPr>
        <p:spPr>
          <a:xfrm>
            <a:off x="10998565" y="5512580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B203EFA-FE43-9B63-5768-4A3FD1509639}"/>
              </a:ext>
            </a:extLst>
          </p:cNvPr>
          <p:cNvSpPr/>
          <p:nvPr/>
        </p:nvSpPr>
        <p:spPr>
          <a:xfrm>
            <a:off x="10976145" y="5512585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868680"/>
            <a:ext cx="9140952" cy="3660746"/>
          </a:xfrm>
        </p:spPr>
        <p:txBody>
          <a:bodyPr anchor="ctr">
            <a:noAutofit/>
          </a:bodyPr>
          <a:lstStyle>
            <a:lvl1pPr marL="164592" indent="-164592">
              <a:lnSpc>
                <a:spcPct val="11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Capstone Project Tech Stack: Python, PySpark, PyCharm, AWS S3, Amazon Redshift Serverless, Git, JiraJira.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B3E7B05-1BDC-457E-AF91-70FD7831729D}" type="datetime1">
              <a:rPr lang="en-US" smtClean="0"/>
              <a:t>6/29/2026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259B8E5-883A-B6CE-4C6C-F6F48B038C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4617720"/>
            <a:ext cx="9140951" cy="788609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29188047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1965960"/>
            <a:ext cx="5074920" cy="419576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70969" y="1965960"/>
            <a:ext cx="5075237" cy="419576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Capstone Project Tech Stack: Python, PySpark, PyCharm, AWS S3, Amazon Redshift Serverless, Git, JiraJira.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841B8D50-F57D-4245-BE7A-669E17DAA3BB}" type="datetime1">
              <a:rPr lang="en-US" smtClean="0"/>
              <a:t>6/29/2026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24391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FA77448-F1DA-CAC1-9B05-8F5CE6558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1878566"/>
            <a:ext cx="5074920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7572" y="1878566"/>
            <a:ext cx="5075556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514600"/>
            <a:ext cx="5075238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97572" y="2514600"/>
            <a:ext cx="5075556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Capstone Project Tech Stack: Python, PySpark, PyCharm, AWS S3, Amazon Redshift Serverless, Git, JiraJira.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773EDECF-A10A-4B72-923C-322025F5AF8C}" type="datetime1">
              <a:rPr lang="en-US" smtClean="0"/>
              <a:t>6/29/2026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35362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F5184-1DAA-DFF4-A408-3D5DD1517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Capstone Project Tech Stack: Python, PySpark, PyCharm, AWS S3, Amazon Redshift Serverless, Git, JiraJira.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D22E5216-C0A6-407E-9D7B-53E6AFFB66BA}" type="datetime1">
              <a:rPr lang="en-US" smtClean="0"/>
              <a:t>6/29/2026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15250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Capstone Project Tech Stack: Python, PySpark, PyCharm, AWS S3, Amazon Redshift Serverless, Git, JiraJira.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647BB7F3-98B7-4056-8E2E-0EDE77077201}" type="datetime1">
              <a:rPr lang="en-US" smtClean="0"/>
              <a:t>6/29/2026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99015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A9EA653-B766-E096-036C-1C173E299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1845593-CC30-27D6-3F82-E2BA784C49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1" y="685800"/>
            <a:ext cx="6699502" cy="548640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Capstone Project Tech Stack: Python, PySpark, PyCharm, AWS S3, Amazon Redshift Serverless, Git, JiraJira.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7D0B3A9B-DB10-48CA-A6B1-4704AFAC07B1}" type="datetime1">
              <a:rPr lang="en-US" smtClean="0"/>
              <a:t>6/29/2026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65434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872039" y="685800"/>
            <a:ext cx="6699502" cy="544263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Capstone Project Tech Stack: Python, PySpark, PyCharm, AWS S3, Amazon Redshift Serverless, Git, JiraJira.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8AE11C4E-7AFA-48E0-BA6A-1448A7E41E9A}" type="datetime1">
              <a:rPr lang="en-US" smtClean="0"/>
              <a:t>6/29/2026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88313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10972800" cy="1828800"/>
          </a:xfrm>
        </p:spPr>
        <p:txBody>
          <a:bodyPr anchor="b">
            <a:noAutofit/>
          </a:bodyPr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429000"/>
            <a:ext cx="10972800" cy="2743198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07EC6D5-3C89-D412-4A74-4DD843571D29}"/>
              </a:ext>
            </a:extLst>
          </p:cNvPr>
          <p:cNvCxnSpPr/>
          <p:nvPr userDrawn="1"/>
        </p:nvCxnSpPr>
        <p:spPr>
          <a:xfrm>
            <a:off x="621792" y="2895600"/>
            <a:ext cx="109636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Capstone Project Tech Stack: Python, PySpark, PyCharm, AWS S3, Amazon Redshift Serverless, Git, JiraJira.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B7D869F-DCD7-4BFA-89D2-E9BDB5064C31}" type="datetime1">
              <a:rPr lang="en-US" smtClean="0"/>
              <a:t>6/29/2026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1205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AB975A1-C2E9-D1D4-3C6F-7296B13798B1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243F218-F67B-B464-9035-A6AA389E6224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1F0E05A-E796-C1AE-DCB2-706459874FC1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C863187-9C01-45D7-5737-0DEACAA80C83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8226424" cy="3725056"/>
          </a:xfrm>
        </p:spPr>
        <p:txBody>
          <a:bodyPr anchor="b">
            <a:noAutofit/>
          </a:bodyPr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7" y="4572000"/>
            <a:ext cx="8226424" cy="1608008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800"/>
            </a:lvl2pPr>
            <a:lvl3pPr marL="457200" indent="0">
              <a:buNone/>
              <a:defRPr sz="1800"/>
            </a:lvl3pPr>
            <a:lvl4pPr marL="685800" indent="0">
              <a:buNone/>
              <a:defRPr sz="1800"/>
            </a:lvl4pPr>
            <a:lvl5pPr marL="914400" indent="0"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Capstone Project Tech Stack: Python, PySpark, PyCharm, AWS S3, Amazon Redshift Serverless, Git, JiraJira.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76C6AF8A-615E-4293-82D9-04DE28B22076}" type="datetime1">
              <a:rPr lang="en-US" smtClean="0"/>
              <a:t>6/29/2026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5364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799"/>
            <a:ext cx="10963655" cy="9144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600200"/>
            <a:ext cx="10963656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343955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Capstone Project Tech Stack: Python, PySpark, PyCharm, AWS S3, Amazon Redshift Serverless, Git, JiraJira.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E60C5674-F676-4905-97F1-6C6CB05FA413}" type="datetime1">
              <a:rPr lang="en-US" smtClean="0"/>
              <a:t>6/29/2026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949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19" r:id="rId1"/>
    <p:sldLayoutId id="2147484115" r:id="rId2"/>
    <p:sldLayoutId id="2147484114" r:id="rId3"/>
    <p:sldLayoutId id="2147484116" r:id="rId4"/>
    <p:sldLayoutId id="2147484117" r:id="rId5"/>
    <p:sldLayoutId id="2147484118" r:id="rId6"/>
    <p:sldLayoutId id="2147484120" r:id="rId7"/>
    <p:sldLayoutId id="2147484121" r:id="rId8"/>
    <p:sldLayoutId id="2147484122" r:id="rId9"/>
    <p:sldLayoutId id="2147484169" r:id="rId10"/>
    <p:sldLayoutId id="2147484124" r:id="rId11"/>
    <p:sldLayoutId id="2147484125" r:id="rId12"/>
    <p:sldLayoutId id="2147484126" r:id="rId13"/>
    <p:sldLayoutId id="2147484127" r:id="rId14"/>
    <p:sldLayoutId id="2147484128" r:id="rId15"/>
    <p:sldLayoutId id="2147484129" r:id="rId16"/>
    <p:sldLayoutId id="2147484130" r:id="rId17"/>
    <p:sldLayoutId id="2147484131" r:id="rId18"/>
    <p:sldLayoutId id="2147484132" r:id="rId19"/>
    <p:sldLayoutId id="2147484133" r:id="rId20"/>
    <p:sldLayoutId id="2147484134" r:id="rId21"/>
    <p:sldLayoutId id="2147484135" r:id="rId22"/>
    <p:sldLayoutId id="2147484136" r:id="rId23"/>
    <p:sldLayoutId id="2147484137" r:id="rId24"/>
    <p:sldLayoutId id="2147484138" r:id="rId25"/>
    <p:sldLayoutId id="2147484139" r:id="rId26"/>
    <p:sldLayoutId id="2147484140" r:id="rId27"/>
    <p:sldLayoutId id="2147484141" r:id="rId28"/>
    <p:sldLayoutId id="2147484142" r:id="rId29"/>
    <p:sldLayoutId id="2147484143" r:id="rId30"/>
    <p:sldLayoutId id="2147484144" r:id="rId31"/>
    <p:sldLayoutId id="2147484145" r:id="rId32"/>
    <p:sldLayoutId id="2147484146" r:id="rId33"/>
    <p:sldLayoutId id="2147484147" r:id="rId34"/>
    <p:sldLayoutId id="2147484148" r:id="rId35"/>
    <p:sldLayoutId id="2147484149" r:id="rId36"/>
    <p:sldLayoutId id="2147484150" r:id="rId37"/>
    <p:sldLayoutId id="2147484152" r:id="rId38"/>
    <p:sldLayoutId id="2147484153" r:id="rId39"/>
    <p:sldLayoutId id="2147484157" r:id="rId40"/>
    <p:sldLayoutId id="2147484158" r:id="rId41"/>
    <p:sldLayoutId id="2147484159" r:id="rId42"/>
    <p:sldLayoutId id="2147484160" r:id="rId43"/>
    <p:sldLayoutId id="2147484161" r:id="rId44"/>
    <p:sldLayoutId id="2147484162" r:id="rId45"/>
    <p:sldLayoutId id="2147484163" r:id="rId46"/>
    <p:sldLayoutId id="2147484164" r:id="rId47"/>
    <p:sldLayoutId id="2147484165" r:id="rId48"/>
    <p:sldLayoutId id="2147484166" r:id="rId49"/>
    <p:sldLayoutId id="2147484167" r:id="rId50"/>
    <p:sldLayoutId id="2147484168" r:id="rId51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400" b="0" i="0" kern="1200" cap="all" spc="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2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600" b="0" i="0" kern="1200">
          <a:solidFill>
            <a:schemeClr val="tx2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7" orient="horz" pos="2160">
          <p15:clr>
            <a:srgbClr val="F26B43"/>
          </p15:clr>
        </p15:guide>
        <p15:guide id="28" pos="3840">
          <p15:clr>
            <a:srgbClr val="F26B43"/>
          </p15:clr>
        </p15:guide>
        <p15:guide id="29" pos="7296">
          <p15:clr>
            <a:srgbClr val="F26B43"/>
          </p15:clr>
        </p15:guide>
        <p15:guide id="30" pos="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FF4B6-3F85-6E67-ED81-212443682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A0CBC46-76F5-CB3F-9BF0-DE7BBD3C66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685800"/>
            <a:ext cx="10055354" cy="2209800"/>
          </a:xfrm>
        </p:spPr>
        <p:txBody>
          <a:bodyPr>
            <a:noAutofit/>
          </a:bodyPr>
          <a:lstStyle/>
          <a:p>
            <a:r>
              <a:rPr lang="en-US" sz="3600" b="1" dirty="0"/>
              <a:t>Healthcare Insurance Big Data Analytics Platform</a:t>
            </a:r>
            <a:br>
              <a:rPr lang="en-US" sz="3600" b="1" dirty="0"/>
            </a:br>
            <a:br>
              <a:rPr lang="en-US" sz="3600" dirty="0"/>
            </a:br>
            <a:r>
              <a:rPr lang="en-US" sz="1800" b="1" dirty="0"/>
              <a:t>End-to-End Data Engineering Capstone </a:t>
            </a:r>
            <a:r>
              <a:rPr lang="en-US" sz="1800" b="1" cap="none" dirty="0"/>
              <a:t>PROJECT </a:t>
            </a:r>
            <a:br>
              <a:rPr lang="en-US" sz="1800" b="1" cap="none" dirty="0"/>
            </a:br>
            <a:r>
              <a:rPr lang="en-US" sz="1800" b="1" cap="none" dirty="0"/>
              <a:t>using AWS S3, </a:t>
            </a:r>
            <a:r>
              <a:rPr lang="en-US" sz="1800" b="1" cap="none" dirty="0" err="1"/>
              <a:t>PySpark</a:t>
            </a:r>
            <a:r>
              <a:rPr lang="en-US" sz="1800" b="1" cap="none" dirty="0"/>
              <a:t>, PyCharm, Amazon Redshift, GitHub, Jira</a:t>
            </a:r>
            <a:br>
              <a:rPr lang="en-US" sz="3600" b="1" dirty="0"/>
            </a:br>
            <a:br>
              <a:rPr lang="en-US" sz="3600" dirty="0"/>
            </a:br>
            <a:endParaRPr lang="en-US" sz="3600" spc="-10" dirty="0">
              <a:solidFill>
                <a:srgbClr val="0070C0"/>
              </a:solidFill>
              <a:latin typeface="Arial"/>
              <a:cs typeface="Arial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5CA5C5AD-7278-E875-15B7-835123AC22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029200"/>
            <a:ext cx="11125202" cy="16764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Arial"/>
                <a:cs typeface="Arial"/>
              </a:rPr>
              <a:t>Prepared By : </a:t>
            </a:r>
            <a:r>
              <a:rPr lang="en-US" dirty="0">
                <a:solidFill>
                  <a:srgbClr val="0070C0"/>
                </a:solidFill>
                <a:latin typeface="Arial"/>
                <a:cs typeface="Arial"/>
              </a:rPr>
              <a:t>Keshab</a:t>
            </a:r>
            <a:r>
              <a:rPr lang="en-US" spc="-45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n-US" spc="-25" dirty="0">
                <a:solidFill>
                  <a:srgbClr val="0070C0"/>
                </a:solidFill>
                <a:latin typeface="Arial"/>
                <a:cs typeface="Arial"/>
              </a:rPr>
              <a:t>Rai</a:t>
            </a:r>
          </a:p>
          <a:p>
            <a:r>
              <a:rPr lang="en-US" spc="-25" dirty="0">
                <a:solidFill>
                  <a:srgbClr val="0070C0"/>
                </a:solidFill>
                <a:latin typeface="Arial"/>
                <a:cs typeface="Arial"/>
              </a:rPr>
              <a:t>Date : June, 2026</a:t>
            </a:r>
          </a:p>
          <a:p>
            <a:endParaRPr lang="en-US" dirty="0">
              <a:latin typeface="Arial"/>
              <a:cs typeface="Arial"/>
            </a:endParaRPr>
          </a:p>
          <a:p>
            <a:endParaRPr lang="en-US" b="1" dirty="0">
              <a:solidFill>
                <a:srgbClr val="0E172A"/>
              </a:solidFill>
              <a:latin typeface="Arial"/>
              <a:cs typeface="Arial"/>
            </a:endParaRP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9A196D-20BF-7BD8-6E91-B71174286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BCE49A-4A49-1A2E-1148-52B9F61D9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cap="none"/>
              <a:t>Capstone Project Tech Stack: Python, PySpark, PyCharm, AWS S3, Amazon Redshift Serverless, Git, JiraJira.</a:t>
            </a:r>
            <a:endParaRPr lang="en-US" cap="none" dirty="0"/>
          </a:p>
        </p:txBody>
      </p:sp>
    </p:spTree>
    <p:extLst>
      <p:ext uri="{BB962C8B-B14F-4D97-AF65-F5344CB8AC3E}">
        <p14:creationId xmlns:p14="http://schemas.microsoft.com/office/powerpoint/2010/main" val="2812452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F102D-EA67-1054-83D4-5D5C7D714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spc="-30" dirty="0">
                <a:solidFill>
                  <a:srgbClr val="1A365D"/>
                </a:solidFill>
                <a:latin typeface="Arial"/>
                <a:cs typeface="Arial"/>
              </a:rPr>
              <a:t> </a:t>
            </a:r>
            <a:r>
              <a:rPr lang="en-US" sz="2800" b="1" dirty="0">
                <a:solidFill>
                  <a:srgbClr val="1A365D"/>
                </a:solidFill>
                <a:latin typeface="Arial"/>
                <a:cs typeface="Arial"/>
              </a:rPr>
              <a:t>Project</a:t>
            </a:r>
            <a:r>
              <a:rPr lang="en-US" sz="2800" b="1" spc="-30" dirty="0">
                <a:solidFill>
                  <a:srgbClr val="1A365D"/>
                </a:solidFill>
                <a:latin typeface="Arial"/>
                <a:cs typeface="Arial"/>
              </a:rPr>
              <a:t> </a:t>
            </a:r>
            <a:r>
              <a:rPr lang="en-US" sz="2800" b="1" dirty="0">
                <a:solidFill>
                  <a:srgbClr val="1A365D"/>
                </a:solidFill>
                <a:latin typeface="Arial"/>
                <a:cs typeface="Arial"/>
              </a:rPr>
              <a:t>Overview</a:t>
            </a:r>
            <a:r>
              <a:rPr lang="en-US" sz="2800" b="1" spc="-45" dirty="0">
                <a:solidFill>
                  <a:srgbClr val="1A365D"/>
                </a:solidFill>
                <a:latin typeface="Arial"/>
                <a:cs typeface="Arial"/>
              </a:rPr>
              <a:t> </a:t>
            </a:r>
            <a:r>
              <a:rPr lang="en-US" sz="2800" b="1" dirty="0">
                <a:solidFill>
                  <a:srgbClr val="1A365D"/>
                </a:solidFill>
                <a:latin typeface="Arial"/>
                <a:cs typeface="Arial"/>
              </a:rPr>
              <a:t>&amp;</a:t>
            </a:r>
            <a:r>
              <a:rPr lang="en-US" sz="2800" b="1" spc="-25" dirty="0">
                <a:solidFill>
                  <a:srgbClr val="1A365D"/>
                </a:solidFill>
                <a:latin typeface="Arial"/>
                <a:cs typeface="Arial"/>
              </a:rPr>
              <a:t> </a:t>
            </a:r>
            <a:r>
              <a:rPr lang="en-US" sz="2800" b="1" spc="-10" dirty="0">
                <a:solidFill>
                  <a:srgbClr val="1A365D"/>
                </a:solidFill>
                <a:latin typeface="Arial"/>
                <a:cs typeface="Arial"/>
              </a:rPr>
              <a:t>Objectives</a:t>
            </a:r>
            <a:br>
              <a:rPr lang="en-US" sz="2800" dirty="0">
                <a:latin typeface="Arial"/>
                <a:cs typeface="Arial"/>
              </a:rPr>
            </a:br>
            <a:endParaRPr lang="en-US" sz="28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A7D9E97-6ED4-ADD3-B318-1803E21CC3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8044" y="1030224"/>
            <a:ext cx="10963655" cy="586740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793165-A3C6-3753-6FB1-DCC3F63CE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2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E3FBD2B-2CAE-D853-C6BF-17D4DDA66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 Project Tech Stack: Python, PySpark, PyCharm, AWS S3, Amazon Redshift Serverless, Git, JiraJira.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68608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2EA5B-7599-0533-A475-ED0DB69C1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1A365D"/>
                </a:solidFill>
                <a:latin typeface="Arial"/>
                <a:cs typeface="Arial"/>
              </a:rPr>
              <a:t>The</a:t>
            </a:r>
            <a:r>
              <a:rPr lang="en-US" sz="2800" b="1" spc="-20" dirty="0">
                <a:solidFill>
                  <a:srgbClr val="1A365D"/>
                </a:solidFill>
                <a:latin typeface="Arial"/>
                <a:cs typeface="Arial"/>
              </a:rPr>
              <a:t> </a:t>
            </a:r>
            <a:r>
              <a:rPr lang="en-US" sz="2800" b="1" dirty="0">
                <a:solidFill>
                  <a:srgbClr val="1A365D"/>
                </a:solidFill>
                <a:latin typeface="Arial"/>
                <a:cs typeface="Arial"/>
              </a:rPr>
              <a:t>Business</a:t>
            </a:r>
            <a:r>
              <a:rPr lang="en-US" sz="2800" b="1" spc="-40" dirty="0">
                <a:solidFill>
                  <a:srgbClr val="1A365D"/>
                </a:solidFill>
                <a:latin typeface="Arial"/>
                <a:cs typeface="Arial"/>
              </a:rPr>
              <a:t> </a:t>
            </a:r>
            <a:r>
              <a:rPr lang="en-US" sz="2800" b="1" spc="-10" dirty="0">
                <a:solidFill>
                  <a:srgbClr val="1A365D"/>
                </a:solidFill>
                <a:latin typeface="Arial"/>
                <a:cs typeface="Arial"/>
              </a:rPr>
              <a:t>Challenge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36866-9521-174D-63EA-ADDED0F894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600200"/>
            <a:ext cx="11268454" cy="5266944"/>
          </a:xfrm>
        </p:spPr>
        <p:txBody>
          <a:bodyPr/>
          <a:lstStyle/>
          <a:p>
            <a:r>
              <a:rPr lang="en-US" b="1" dirty="0">
                <a:solidFill>
                  <a:srgbClr val="0E172A"/>
                </a:solidFill>
                <a:latin typeface="Arial"/>
                <a:cs typeface="Arial"/>
              </a:rPr>
              <a:t>Data</a:t>
            </a:r>
            <a:r>
              <a:rPr lang="en-US" b="1" spc="-30" dirty="0">
                <a:solidFill>
                  <a:srgbClr val="0E172A"/>
                </a:solidFill>
                <a:latin typeface="Arial"/>
                <a:cs typeface="Arial"/>
              </a:rPr>
              <a:t> </a:t>
            </a:r>
            <a:r>
              <a:rPr lang="en-US" b="1" dirty="0">
                <a:solidFill>
                  <a:srgbClr val="0E172A"/>
                </a:solidFill>
                <a:latin typeface="Arial"/>
                <a:cs typeface="Arial"/>
              </a:rPr>
              <a:t>Silos:</a:t>
            </a:r>
            <a:r>
              <a:rPr lang="en-US" b="1" spc="-15" dirty="0">
                <a:solidFill>
                  <a:srgbClr val="0E172A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Claims</a:t>
            </a:r>
            <a:r>
              <a:rPr lang="en-US" spc="-3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histories,</a:t>
            </a:r>
            <a:r>
              <a:rPr lang="en-US" spc="-5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customer</a:t>
            </a:r>
            <a:r>
              <a:rPr lang="en-US" spc="-6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profile</a:t>
            </a:r>
            <a:r>
              <a:rPr lang="en-US" spc="-3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</a:p>
          <a:p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demographics,</a:t>
            </a:r>
            <a:r>
              <a:rPr lang="en-US" spc="-5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and</a:t>
            </a:r>
            <a:r>
              <a:rPr lang="en-US" spc="-3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medical</a:t>
            </a:r>
            <a:r>
              <a:rPr lang="en-US" spc="-3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provider</a:t>
            </a:r>
            <a:r>
              <a:rPr lang="en-US" spc="-4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spc="-20" dirty="0">
                <a:solidFill>
                  <a:srgbClr val="334154"/>
                </a:solidFill>
                <a:latin typeface="Arial"/>
                <a:cs typeface="Arial"/>
              </a:rPr>
              <a:t>logs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were</a:t>
            </a:r>
            <a:r>
              <a:rPr lang="en-US" spc="-2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</a:p>
          <a:p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disconnected</a:t>
            </a:r>
            <a:r>
              <a:rPr lang="en-US" spc="-3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and</a:t>
            </a:r>
            <a:r>
              <a:rPr lang="en-US" spc="-2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spc="-10" dirty="0">
                <a:solidFill>
                  <a:srgbClr val="334154"/>
                </a:solidFill>
                <a:latin typeface="Arial"/>
                <a:cs typeface="Arial"/>
              </a:rPr>
              <a:t>isolated.</a:t>
            </a:r>
            <a:endParaRPr lang="en-US" dirty="0">
              <a:latin typeface="Arial"/>
              <a:cs typeface="Arial"/>
            </a:endParaRPr>
          </a:p>
          <a:p>
            <a:endParaRPr lang="en-US" dirty="0"/>
          </a:p>
          <a:p>
            <a:r>
              <a:rPr lang="en-US" b="1" dirty="0">
                <a:solidFill>
                  <a:srgbClr val="0E172A"/>
                </a:solidFill>
                <a:latin typeface="Arial"/>
                <a:cs typeface="Arial"/>
              </a:rPr>
              <a:t>Data</a:t>
            </a:r>
            <a:r>
              <a:rPr lang="en-US" b="1" spc="-25" dirty="0">
                <a:solidFill>
                  <a:srgbClr val="0E172A"/>
                </a:solidFill>
                <a:latin typeface="Arial"/>
                <a:cs typeface="Arial"/>
              </a:rPr>
              <a:t> </a:t>
            </a:r>
            <a:r>
              <a:rPr lang="en-US" b="1" dirty="0">
                <a:solidFill>
                  <a:srgbClr val="0E172A"/>
                </a:solidFill>
                <a:latin typeface="Arial"/>
                <a:cs typeface="Arial"/>
              </a:rPr>
              <a:t>Quality</a:t>
            </a:r>
            <a:r>
              <a:rPr lang="en-US" b="1" spc="-25" dirty="0">
                <a:solidFill>
                  <a:srgbClr val="0E172A"/>
                </a:solidFill>
                <a:latin typeface="Arial"/>
                <a:cs typeface="Arial"/>
              </a:rPr>
              <a:t> </a:t>
            </a:r>
            <a:r>
              <a:rPr lang="en-US" b="1" dirty="0">
                <a:solidFill>
                  <a:srgbClr val="0E172A"/>
                </a:solidFill>
                <a:latin typeface="Arial"/>
                <a:cs typeface="Arial"/>
              </a:rPr>
              <a:t>Anomalies:</a:t>
            </a:r>
            <a:r>
              <a:rPr lang="en-US" b="1" spc="-5" dirty="0">
                <a:solidFill>
                  <a:srgbClr val="0E172A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High</a:t>
            </a:r>
            <a:r>
              <a:rPr lang="en-US" spc="-2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volume</a:t>
            </a:r>
            <a:r>
              <a:rPr lang="en-US" spc="-4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of</a:t>
            </a:r>
            <a:r>
              <a:rPr lang="en-US" spc="-2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missing</a:t>
            </a:r>
            <a:r>
              <a:rPr lang="en-US" spc="-4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</a:p>
          <a:p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rows,</a:t>
            </a:r>
            <a:r>
              <a:rPr lang="en-US" spc="-2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corrupted</a:t>
            </a:r>
            <a:r>
              <a:rPr lang="en-US" spc="-4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tracking</a:t>
            </a:r>
            <a:r>
              <a:rPr lang="en-US" spc="-4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data</a:t>
            </a:r>
            <a:r>
              <a:rPr lang="en-US" spc="-4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(</a:t>
            </a:r>
            <a:r>
              <a:rPr lang="en-US" dirty="0" err="1">
                <a:solidFill>
                  <a:srgbClr val="334154"/>
                </a:solidFill>
                <a:latin typeface="Arial"/>
                <a:cs typeface="Arial"/>
              </a:rPr>
              <a:t>NaN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),</a:t>
            </a:r>
            <a:r>
              <a:rPr lang="en-US" spc="-25" dirty="0">
                <a:solidFill>
                  <a:srgbClr val="334154"/>
                </a:solidFill>
                <a:latin typeface="Arial"/>
                <a:cs typeface="Arial"/>
              </a:rPr>
              <a:t> and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redundant</a:t>
            </a:r>
          </a:p>
          <a:p>
            <a:r>
              <a:rPr lang="en-US" spc="-3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duplicate</a:t>
            </a:r>
            <a:r>
              <a:rPr lang="en-US" spc="-4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spc="-10" dirty="0">
                <a:solidFill>
                  <a:srgbClr val="334154"/>
                </a:solidFill>
                <a:latin typeface="Arial"/>
                <a:cs typeface="Arial"/>
              </a:rPr>
              <a:t>entries.</a:t>
            </a:r>
            <a:endParaRPr lang="en-US" dirty="0">
              <a:latin typeface="Arial"/>
              <a:cs typeface="Arial"/>
            </a:endParaRPr>
          </a:p>
          <a:p>
            <a:endParaRPr lang="en-US" dirty="0"/>
          </a:p>
          <a:p>
            <a:r>
              <a:rPr lang="en-US" b="1" dirty="0">
                <a:solidFill>
                  <a:srgbClr val="0E172A"/>
                </a:solidFill>
                <a:latin typeface="Arial"/>
                <a:cs typeface="Arial"/>
              </a:rPr>
              <a:t>Performance</a:t>
            </a:r>
            <a:r>
              <a:rPr lang="en-US" b="1" spc="-25" dirty="0">
                <a:solidFill>
                  <a:srgbClr val="0E172A"/>
                </a:solidFill>
                <a:latin typeface="Arial"/>
                <a:cs typeface="Arial"/>
              </a:rPr>
              <a:t> </a:t>
            </a:r>
            <a:r>
              <a:rPr lang="en-US" b="1" dirty="0">
                <a:solidFill>
                  <a:srgbClr val="0E172A"/>
                </a:solidFill>
                <a:latin typeface="Arial"/>
                <a:cs typeface="Arial"/>
              </a:rPr>
              <a:t>Bottlenecks: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Traditional</a:t>
            </a:r>
            <a:r>
              <a:rPr lang="en-US" spc="-3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spc="-10" dirty="0">
                <a:solidFill>
                  <a:srgbClr val="334154"/>
                </a:solidFill>
                <a:latin typeface="Arial"/>
                <a:cs typeface="Arial"/>
              </a:rPr>
              <a:t>row-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based</a:t>
            </a:r>
            <a:r>
              <a:rPr lang="en-US" spc="-3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</a:p>
          <a:p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database</a:t>
            </a:r>
            <a:r>
              <a:rPr lang="en-US" spc="-2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engines</a:t>
            </a:r>
            <a:r>
              <a:rPr lang="en-US" spc="-7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failed</a:t>
            </a:r>
            <a:r>
              <a:rPr lang="en-US" spc="-4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to</a:t>
            </a:r>
            <a:r>
              <a:rPr lang="en-US" spc="-2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run</a:t>
            </a:r>
            <a:r>
              <a:rPr lang="en-US" spc="-4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spc="-10" dirty="0">
                <a:solidFill>
                  <a:srgbClr val="334154"/>
                </a:solidFill>
                <a:latin typeface="Arial"/>
                <a:cs typeface="Arial"/>
              </a:rPr>
              <a:t>complex multi-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table</a:t>
            </a:r>
            <a:r>
              <a:rPr lang="en-US" spc="-2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</a:p>
          <a:p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analytical</a:t>
            </a:r>
            <a:r>
              <a:rPr lang="en-US" spc="-2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joins</a:t>
            </a:r>
            <a:r>
              <a:rPr lang="en-US" spc="-4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efficiently</a:t>
            </a:r>
            <a:r>
              <a:rPr lang="en-US" spc="-4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over</a:t>
            </a:r>
            <a:r>
              <a:rPr lang="en-US" spc="-3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large</a:t>
            </a:r>
            <a:r>
              <a:rPr lang="en-US" spc="-1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transaction</a:t>
            </a:r>
            <a:r>
              <a:rPr lang="en-US" spc="-3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</a:p>
          <a:p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data</a:t>
            </a:r>
            <a:r>
              <a:rPr lang="en-US" spc="-3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spc="-10" dirty="0">
                <a:solidFill>
                  <a:srgbClr val="334154"/>
                </a:solidFill>
                <a:latin typeface="Arial"/>
                <a:cs typeface="Arial"/>
              </a:rPr>
              <a:t>volumes.</a:t>
            </a:r>
            <a:endParaRPr lang="en-US" dirty="0">
              <a:latin typeface="Arial"/>
              <a:cs typeface="Arial"/>
            </a:endParaRPr>
          </a:p>
          <a:p>
            <a:endParaRPr lang="en-US" dirty="0"/>
          </a:p>
        </p:txBody>
      </p:sp>
      <p:pic>
        <p:nvPicPr>
          <p:cNvPr id="7" name="object 5">
            <a:extLst>
              <a:ext uri="{FF2B5EF4-FFF2-40B4-BE49-F238E27FC236}">
                <a16:creationId xmlns:a16="http://schemas.microsoft.com/office/drawing/2014/main" id="{D07017BC-77C5-927C-7197-80031DD927F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48200" y="1338606"/>
            <a:ext cx="7080502" cy="5266944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6E8DCB-0990-007B-EF6E-6A42E50EB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F0507E-7FA4-67FE-6572-F529D5CC5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cap="none"/>
              <a:t>Capstone Project Tech Stack: Python, PySpark, PyCharm, AWS S3, Amazon Redshift Serverless, Git, JiraJira.</a:t>
            </a:r>
            <a:endParaRPr lang="en-US" cap="none" dirty="0"/>
          </a:p>
        </p:txBody>
      </p:sp>
    </p:spTree>
    <p:extLst>
      <p:ext uri="{BB962C8B-B14F-4D97-AF65-F5344CB8AC3E}">
        <p14:creationId xmlns:p14="http://schemas.microsoft.com/office/powerpoint/2010/main" val="34208894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026B2-8519-6EED-5DC7-1DC717B6A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3698B-C5C6-ACE9-4EDE-E391EF5CC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52400"/>
            <a:ext cx="10963655" cy="1295401"/>
          </a:xfrm>
        </p:spPr>
        <p:txBody>
          <a:bodyPr/>
          <a:lstStyle/>
          <a:p>
            <a:r>
              <a:rPr lang="en-US" sz="2800" b="1" dirty="0">
                <a:solidFill>
                  <a:srgbClr val="1A365D"/>
                </a:solidFill>
                <a:latin typeface="Arial"/>
                <a:cs typeface="Arial"/>
              </a:rPr>
              <a:t>Decoupled</a:t>
            </a:r>
            <a:r>
              <a:rPr lang="en-US" sz="2800" b="1" spc="-45" dirty="0">
                <a:solidFill>
                  <a:srgbClr val="1A365D"/>
                </a:solidFill>
                <a:latin typeface="Arial"/>
                <a:cs typeface="Arial"/>
              </a:rPr>
              <a:t> </a:t>
            </a:r>
            <a:r>
              <a:rPr lang="en-US" sz="2800" b="1" dirty="0">
                <a:solidFill>
                  <a:srgbClr val="1A365D"/>
                </a:solidFill>
                <a:latin typeface="Arial"/>
                <a:cs typeface="Arial"/>
              </a:rPr>
              <a:t>Cloud</a:t>
            </a:r>
            <a:r>
              <a:rPr lang="en-US" sz="2800" b="1" spc="-20" dirty="0">
                <a:solidFill>
                  <a:srgbClr val="1A365D"/>
                </a:solidFill>
                <a:latin typeface="Arial"/>
                <a:cs typeface="Arial"/>
              </a:rPr>
              <a:t> </a:t>
            </a:r>
            <a:r>
              <a:rPr lang="en-US" sz="2800" b="1" dirty="0">
                <a:solidFill>
                  <a:srgbClr val="1A365D"/>
                </a:solidFill>
                <a:latin typeface="Arial"/>
                <a:cs typeface="Arial"/>
              </a:rPr>
              <a:t>Architecture</a:t>
            </a:r>
            <a:r>
              <a:rPr lang="en-US" sz="2800" b="1" spc="-40" dirty="0">
                <a:solidFill>
                  <a:srgbClr val="1A365D"/>
                </a:solidFill>
                <a:latin typeface="Arial"/>
                <a:cs typeface="Arial"/>
              </a:rPr>
              <a:t> </a:t>
            </a:r>
            <a:r>
              <a:rPr lang="en-US" sz="2800" b="1" dirty="0">
                <a:solidFill>
                  <a:srgbClr val="1A365D"/>
                </a:solidFill>
                <a:latin typeface="Arial"/>
                <a:cs typeface="Arial"/>
              </a:rPr>
              <a:t>Diagram</a:t>
            </a:r>
            <a:r>
              <a:rPr lang="en-US" sz="2800" b="1" spc="-25" dirty="0">
                <a:solidFill>
                  <a:srgbClr val="1A365D"/>
                </a:solidFill>
                <a:latin typeface="Arial"/>
                <a:cs typeface="Arial"/>
              </a:rPr>
              <a:t> </a:t>
            </a:r>
            <a:r>
              <a:rPr lang="en-US" sz="2800" b="1" dirty="0">
                <a:solidFill>
                  <a:srgbClr val="1A365D"/>
                </a:solidFill>
                <a:latin typeface="Arial"/>
                <a:cs typeface="Arial"/>
              </a:rPr>
              <a:t>&amp;</a:t>
            </a:r>
            <a:r>
              <a:rPr lang="en-US" sz="2800" b="1" spc="-30" dirty="0">
                <a:solidFill>
                  <a:srgbClr val="1A365D"/>
                </a:solidFill>
                <a:latin typeface="Arial"/>
                <a:cs typeface="Arial"/>
              </a:rPr>
              <a:t> </a:t>
            </a:r>
            <a:r>
              <a:rPr lang="en-US" sz="2800" b="1" dirty="0">
                <a:solidFill>
                  <a:srgbClr val="1A365D"/>
                </a:solidFill>
                <a:latin typeface="Arial"/>
                <a:cs typeface="Arial"/>
              </a:rPr>
              <a:t>Medallion</a:t>
            </a:r>
            <a:r>
              <a:rPr lang="en-US" sz="2800" b="1" spc="-25" dirty="0">
                <a:solidFill>
                  <a:srgbClr val="1A365D"/>
                </a:solidFill>
                <a:latin typeface="Arial"/>
                <a:cs typeface="Arial"/>
              </a:rPr>
              <a:t> </a:t>
            </a:r>
            <a:r>
              <a:rPr lang="en-US" sz="2800" b="1" spc="-10" dirty="0">
                <a:solidFill>
                  <a:srgbClr val="1A365D"/>
                </a:solidFill>
                <a:latin typeface="Arial"/>
                <a:cs typeface="Arial"/>
              </a:rPr>
              <a:t>Layers</a:t>
            </a:r>
            <a:br>
              <a:rPr lang="en-US" sz="2800" dirty="0">
                <a:latin typeface="Arial"/>
                <a:cs typeface="Arial"/>
              </a:rPr>
            </a:b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F28A5A-1E56-32BA-F4B1-9884CEFBF5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600200"/>
            <a:ext cx="11268454" cy="5266944"/>
          </a:xfrm>
        </p:spPr>
        <p:txBody>
          <a:bodyPr/>
          <a:lstStyle/>
          <a:p>
            <a:r>
              <a:rPr lang="en-US" b="1" dirty="0">
                <a:solidFill>
                  <a:srgbClr val="0E172A"/>
                </a:solidFill>
                <a:latin typeface="Arial"/>
                <a:cs typeface="Arial"/>
              </a:rPr>
              <a:t>Bronze</a:t>
            </a:r>
            <a:r>
              <a:rPr lang="en-US" b="1" spc="-20" dirty="0">
                <a:solidFill>
                  <a:srgbClr val="0E172A"/>
                </a:solidFill>
                <a:latin typeface="Arial"/>
                <a:cs typeface="Arial"/>
              </a:rPr>
              <a:t> </a:t>
            </a:r>
            <a:r>
              <a:rPr lang="en-US" b="1" dirty="0">
                <a:solidFill>
                  <a:srgbClr val="0E172A"/>
                </a:solidFill>
                <a:latin typeface="Arial"/>
                <a:cs typeface="Arial"/>
              </a:rPr>
              <a:t>Layer</a:t>
            </a:r>
            <a:r>
              <a:rPr lang="en-US" b="1" spc="-20" dirty="0">
                <a:solidFill>
                  <a:srgbClr val="0E172A"/>
                </a:solidFill>
                <a:latin typeface="Arial"/>
                <a:cs typeface="Arial"/>
              </a:rPr>
              <a:t> </a:t>
            </a:r>
            <a:r>
              <a:rPr lang="en-US" b="1" dirty="0">
                <a:solidFill>
                  <a:srgbClr val="0E172A"/>
                </a:solidFill>
                <a:latin typeface="Arial"/>
                <a:cs typeface="Arial"/>
              </a:rPr>
              <a:t>(Landing</a:t>
            </a:r>
            <a:r>
              <a:rPr lang="en-US" b="1" spc="-25" dirty="0">
                <a:solidFill>
                  <a:srgbClr val="0E172A"/>
                </a:solidFill>
                <a:latin typeface="Arial"/>
                <a:cs typeface="Arial"/>
              </a:rPr>
              <a:t> </a:t>
            </a:r>
            <a:r>
              <a:rPr lang="en-US" b="1" dirty="0">
                <a:solidFill>
                  <a:srgbClr val="0E172A"/>
                </a:solidFill>
                <a:latin typeface="Arial"/>
                <a:cs typeface="Arial"/>
              </a:rPr>
              <a:t>Zone):</a:t>
            </a:r>
            <a:r>
              <a:rPr lang="en-US" b="1" spc="10" dirty="0">
                <a:solidFill>
                  <a:srgbClr val="0E172A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Raw</a:t>
            </a:r>
            <a:r>
              <a:rPr lang="en-US" spc="-5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source</a:t>
            </a:r>
            <a:r>
              <a:rPr lang="en-US" spc="-3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files</a:t>
            </a:r>
            <a:r>
              <a:rPr lang="en-US" spc="-4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are</a:t>
            </a:r>
            <a:r>
              <a:rPr lang="en-US" spc="-3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</a:p>
          <a:p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uploaded</a:t>
            </a:r>
            <a:r>
              <a:rPr lang="en-US" spc="-3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directly</a:t>
            </a:r>
            <a:r>
              <a:rPr lang="en-US" spc="-2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to</a:t>
            </a:r>
            <a:r>
              <a:rPr lang="en-US" spc="-1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AWS</a:t>
            </a:r>
            <a:r>
              <a:rPr lang="en-US" spc="-4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S3</a:t>
            </a:r>
            <a:r>
              <a:rPr lang="en-US" spc="-2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into</a:t>
            </a:r>
            <a:r>
              <a:rPr lang="en-US" spc="-3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spc="-25" dirty="0">
                <a:solidFill>
                  <a:srgbClr val="334154"/>
                </a:solidFill>
                <a:latin typeface="Arial"/>
                <a:cs typeface="Arial"/>
              </a:rPr>
              <a:t>an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immutable</a:t>
            </a:r>
          </a:p>
          <a:p>
            <a:r>
              <a:rPr lang="en-US" spc="-10" dirty="0">
                <a:solidFill>
                  <a:srgbClr val="334154"/>
                </a:solidFill>
                <a:latin typeface="Arial"/>
                <a:cs typeface="Arial"/>
              </a:rPr>
              <a:t>`input-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data`</a:t>
            </a:r>
            <a:r>
              <a:rPr lang="en-US" spc="-10" dirty="0">
                <a:solidFill>
                  <a:srgbClr val="334154"/>
                </a:solidFill>
                <a:latin typeface="Arial"/>
                <a:cs typeface="Arial"/>
              </a:rPr>
              <a:t> bucket.</a:t>
            </a:r>
          </a:p>
          <a:p>
            <a:endParaRPr lang="en-US" dirty="0"/>
          </a:p>
          <a:p>
            <a:r>
              <a:rPr lang="en-US" b="1" dirty="0">
                <a:solidFill>
                  <a:srgbClr val="0E172A"/>
                </a:solidFill>
                <a:latin typeface="Arial"/>
                <a:cs typeface="Arial"/>
              </a:rPr>
              <a:t>Silver</a:t>
            </a:r>
            <a:r>
              <a:rPr lang="en-US" b="1" spc="-10" dirty="0">
                <a:solidFill>
                  <a:srgbClr val="0E172A"/>
                </a:solidFill>
                <a:latin typeface="Arial"/>
                <a:cs typeface="Arial"/>
              </a:rPr>
              <a:t> </a:t>
            </a:r>
            <a:r>
              <a:rPr lang="en-US" b="1" dirty="0">
                <a:solidFill>
                  <a:srgbClr val="0E172A"/>
                </a:solidFill>
                <a:latin typeface="Arial"/>
                <a:cs typeface="Arial"/>
              </a:rPr>
              <a:t>Layer</a:t>
            </a:r>
            <a:r>
              <a:rPr lang="en-US" b="1" spc="-5" dirty="0">
                <a:solidFill>
                  <a:srgbClr val="0E172A"/>
                </a:solidFill>
                <a:latin typeface="Arial"/>
                <a:cs typeface="Arial"/>
              </a:rPr>
              <a:t> </a:t>
            </a:r>
            <a:r>
              <a:rPr lang="en-US" b="1" spc="-10" dirty="0">
                <a:solidFill>
                  <a:srgbClr val="0E172A"/>
                </a:solidFill>
                <a:latin typeface="Arial"/>
                <a:cs typeface="Arial"/>
              </a:rPr>
              <a:t>(Processing </a:t>
            </a:r>
            <a:r>
              <a:rPr lang="en-US" b="1" dirty="0">
                <a:solidFill>
                  <a:srgbClr val="0E172A"/>
                </a:solidFill>
                <a:latin typeface="Arial"/>
                <a:cs typeface="Arial"/>
              </a:rPr>
              <a:t>&amp;</a:t>
            </a:r>
            <a:r>
              <a:rPr lang="en-US" b="1" spc="-15" dirty="0">
                <a:solidFill>
                  <a:srgbClr val="0E172A"/>
                </a:solidFill>
                <a:latin typeface="Arial"/>
                <a:cs typeface="Arial"/>
              </a:rPr>
              <a:t> </a:t>
            </a:r>
            <a:r>
              <a:rPr lang="en-US" b="1" dirty="0">
                <a:solidFill>
                  <a:srgbClr val="0E172A"/>
                </a:solidFill>
                <a:latin typeface="Arial"/>
                <a:cs typeface="Arial"/>
              </a:rPr>
              <a:t>Enrichment):</a:t>
            </a:r>
            <a:r>
              <a:rPr lang="en-US" b="1" spc="35" dirty="0">
                <a:solidFill>
                  <a:srgbClr val="0E172A"/>
                </a:solidFill>
                <a:latin typeface="Arial"/>
                <a:cs typeface="Arial"/>
              </a:rPr>
              <a:t> </a:t>
            </a:r>
            <a:r>
              <a:rPr lang="en-US" dirty="0" err="1"/>
              <a:t>PySpark</a:t>
            </a:r>
            <a:r>
              <a:rPr lang="en-US" dirty="0"/>
              <a:t> </a:t>
            </a:r>
          </a:p>
          <a:p>
            <a:r>
              <a:rPr lang="en-US" dirty="0"/>
              <a:t>applications were developed in PyCharm and executed </a:t>
            </a:r>
          </a:p>
          <a:p>
            <a:r>
              <a:rPr lang="en-US" dirty="0"/>
              <a:t>inside Docker-based Spark containers to perform</a:t>
            </a:r>
          </a:p>
          <a:p>
            <a:r>
              <a:rPr lang="en-US" dirty="0"/>
              <a:t> schema validation, null value handling, duplicate</a:t>
            </a:r>
          </a:p>
          <a:p>
            <a:r>
              <a:rPr lang="en-US" dirty="0"/>
              <a:t> removal, data standardization and data quality checks</a:t>
            </a:r>
          </a:p>
          <a:p>
            <a:r>
              <a:rPr lang="en-US" dirty="0"/>
              <a:t> before producing clean datasets for the Gold layer.</a:t>
            </a:r>
            <a:endParaRPr lang="en-US" spc="-10" dirty="0">
              <a:solidFill>
                <a:srgbClr val="334154"/>
              </a:solidFill>
              <a:latin typeface="Arial"/>
              <a:cs typeface="Arial"/>
            </a:endParaRPr>
          </a:p>
          <a:p>
            <a:endParaRPr lang="en-US" b="1" dirty="0">
              <a:solidFill>
                <a:srgbClr val="0E172A"/>
              </a:solidFill>
              <a:latin typeface="Arial"/>
              <a:cs typeface="Arial"/>
            </a:endParaRPr>
          </a:p>
          <a:p>
            <a:r>
              <a:rPr lang="en-US" b="1" dirty="0">
                <a:solidFill>
                  <a:srgbClr val="0E172A"/>
                </a:solidFill>
                <a:latin typeface="Arial"/>
                <a:cs typeface="Arial"/>
              </a:rPr>
              <a:t>Gold</a:t>
            </a:r>
            <a:r>
              <a:rPr lang="en-US" b="1" spc="-35" dirty="0">
                <a:solidFill>
                  <a:srgbClr val="0E172A"/>
                </a:solidFill>
                <a:latin typeface="Arial"/>
                <a:cs typeface="Arial"/>
              </a:rPr>
              <a:t> </a:t>
            </a:r>
            <a:r>
              <a:rPr lang="en-US" b="1" dirty="0">
                <a:solidFill>
                  <a:srgbClr val="0E172A"/>
                </a:solidFill>
                <a:latin typeface="Arial"/>
                <a:cs typeface="Arial"/>
              </a:rPr>
              <a:t>Layer</a:t>
            </a:r>
            <a:r>
              <a:rPr lang="en-US" b="1" spc="-30" dirty="0">
                <a:solidFill>
                  <a:srgbClr val="0E172A"/>
                </a:solidFill>
                <a:latin typeface="Arial"/>
                <a:cs typeface="Arial"/>
              </a:rPr>
              <a:t> </a:t>
            </a:r>
            <a:r>
              <a:rPr lang="en-US" b="1" dirty="0">
                <a:solidFill>
                  <a:srgbClr val="0E172A"/>
                </a:solidFill>
                <a:latin typeface="Arial"/>
                <a:cs typeface="Arial"/>
              </a:rPr>
              <a:t>(Warehouse</a:t>
            </a:r>
            <a:r>
              <a:rPr lang="en-US" b="1" spc="-20" dirty="0">
                <a:solidFill>
                  <a:srgbClr val="0E172A"/>
                </a:solidFill>
                <a:latin typeface="Arial"/>
                <a:cs typeface="Arial"/>
              </a:rPr>
              <a:t> </a:t>
            </a:r>
            <a:r>
              <a:rPr lang="en-US" b="1" dirty="0">
                <a:solidFill>
                  <a:srgbClr val="0E172A"/>
                </a:solidFill>
                <a:latin typeface="Arial"/>
                <a:cs typeface="Arial"/>
              </a:rPr>
              <a:t>Analytics):</a:t>
            </a:r>
            <a:r>
              <a:rPr lang="en-US" b="1" spc="5" dirty="0">
                <a:solidFill>
                  <a:srgbClr val="0E172A"/>
                </a:solidFill>
                <a:latin typeface="Arial"/>
                <a:cs typeface="Arial"/>
              </a:rPr>
              <a:t> </a:t>
            </a:r>
            <a:r>
              <a:rPr lang="en-US" spc="-10" dirty="0">
                <a:solidFill>
                  <a:srgbClr val="334154"/>
                </a:solidFill>
                <a:latin typeface="Arial"/>
                <a:cs typeface="Arial"/>
              </a:rPr>
              <a:t>High-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performance,</a:t>
            </a:r>
          </a:p>
          <a:p>
            <a:r>
              <a:rPr lang="en-US" spc="-2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clean</a:t>
            </a:r>
            <a:r>
              <a:rPr lang="en-US" spc="-4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tables</a:t>
            </a:r>
            <a:r>
              <a:rPr lang="en-US" spc="-5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are</a:t>
            </a:r>
            <a:r>
              <a:rPr lang="en-US" spc="-4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persisted</a:t>
            </a:r>
            <a:r>
              <a:rPr lang="en-US" spc="-20" dirty="0">
                <a:solidFill>
                  <a:srgbClr val="334154"/>
                </a:solidFill>
                <a:latin typeface="Arial"/>
                <a:cs typeface="Arial"/>
              </a:rPr>
              <a:t> into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target</a:t>
            </a:r>
            <a:r>
              <a:rPr lang="en-US" spc="-3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Redshift</a:t>
            </a:r>
            <a:r>
              <a:rPr lang="en-US" spc="-2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</a:p>
          <a:p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serverless</a:t>
            </a:r>
            <a:r>
              <a:rPr lang="en-US" spc="-5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analytical</a:t>
            </a:r>
            <a:r>
              <a:rPr lang="en-US" spc="-3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schemas</a:t>
            </a:r>
            <a:r>
              <a:rPr lang="en-US" spc="-3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spc="-10" dirty="0">
                <a:solidFill>
                  <a:srgbClr val="334154"/>
                </a:solidFill>
                <a:latin typeface="Arial"/>
                <a:cs typeface="Arial"/>
              </a:rPr>
              <a:t>(`</a:t>
            </a:r>
            <a:r>
              <a:rPr lang="en-US" spc="-10" dirty="0" err="1">
                <a:solidFill>
                  <a:srgbClr val="334154"/>
                </a:solidFill>
                <a:latin typeface="Arial"/>
                <a:cs typeface="Arial"/>
              </a:rPr>
              <a:t>project_output</a:t>
            </a:r>
            <a:r>
              <a:rPr lang="en-US" spc="-10" dirty="0">
                <a:solidFill>
                  <a:srgbClr val="334154"/>
                </a:solidFill>
                <a:latin typeface="Arial"/>
                <a:cs typeface="Arial"/>
              </a:rPr>
              <a:t>`).</a:t>
            </a:r>
            <a:endParaRPr lang="en-US" dirty="0">
              <a:latin typeface="Arial"/>
              <a:cs typeface="Arial"/>
            </a:endParaRPr>
          </a:p>
          <a:p>
            <a:endParaRPr lang="en-US" dirty="0">
              <a:latin typeface="Arial"/>
              <a:cs typeface="Arial"/>
            </a:endParaRPr>
          </a:p>
          <a:p>
            <a:endParaRPr lang="en-US" dirty="0"/>
          </a:p>
        </p:txBody>
      </p:sp>
      <p:pic>
        <p:nvPicPr>
          <p:cNvPr id="8" name="object 7">
            <a:extLst>
              <a:ext uri="{FF2B5EF4-FFF2-40B4-BE49-F238E27FC236}">
                <a16:creationId xmlns:a16="http://schemas.microsoft.com/office/drawing/2014/main" id="{43C986EA-F387-BB57-289C-AB87A1ABE5C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81600" y="1077011"/>
            <a:ext cx="7010400" cy="5266944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6A40A6-6DED-C8CE-C9E9-543F389F9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4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307E007-E78A-0771-D5BD-71B9A2058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cap="none"/>
              <a:t>Capstone Project Tech Stack: Python, PySpark, PyCharm, AWS S3, Amazon Redshift Serverless, Git, JiraJira.</a:t>
            </a:r>
            <a:endParaRPr lang="en-US" cap="none" dirty="0"/>
          </a:p>
        </p:txBody>
      </p:sp>
    </p:spTree>
    <p:extLst>
      <p:ext uri="{BB962C8B-B14F-4D97-AF65-F5344CB8AC3E}">
        <p14:creationId xmlns:p14="http://schemas.microsoft.com/office/powerpoint/2010/main" val="3054691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F0D09-B46A-3AEE-420E-2A813C957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1D07C-E7A8-71C7-E8D9-59868AE16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52400"/>
            <a:ext cx="10963655" cy="1295401"/>
          </a:xfrm>
        </p:spPr>
        <p:txBody>
          <a:bodyPr/>
          <a:lstStyle/>
          <a:p>
            <a:r>
              <a:rPr lang="en-US" sz="2800" b="1" dirty="0">
                <a:solidFill>
                  <a:srgbClr val="1A365D"/>
                </a:solidFill>
                <a:latin typeface="Arial"/>
                <a:cs typeface="Arial"/>
              </a:rPr>
              <a:t>Dataset</a:t>
            </a:r>
            <a:r>
              <a:rPr lang="en-US" sz="2800" b="1" spc="-25" dirty="0">
                <a:solidFill>
                  <a:srgbClr val="1A365D"/>
                </a:solidFill>
                <a:latin typeface="Arial"/>
                <a:cs typeface="Arial"/>
              </a:rPr>
              <a:t> </a:t>
            </a:r>
            <a:r>
              <a:rPr lang="en-US" sz="2800" b="1" spc="-10" dirty="0">
                <a:solidFill>
                  <a:srgbClr val="1A365D"/>
                </a:solidFill>
                <a:latin typeface="Arial"/>
                <a:cs typeface="Arial"/>
              </a:rPr>
              <a:t>Description</a:t>
            </a:r>
            <a:br>
              <a:rPr lang="en-US" sz="2800" dirty="0">
                <a:latin typeface="Arial"/>
                <a:cs typeface="Arial"/>
              </a:rPr>
            </a:br>
            <a:br>
              <a:rPr lang="en-US" sz="2800" dirty="0">
                <a:latin typeface="Arial"/>
                <a:cs typeface="Arial"/>
              </a:rPr>
            </a:b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10C332-8571-F82D-F7FC-1BACA2FC8E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600200"/>
            <a:ext cx="11268454" cy="5266944"/>
          </a:xfrm>
        </p:spPr>
        <p:txBody>
          <a:bodyPr/>
          <a:lstStyle/>
          <a:p>
            <a:r>
              <a:rPr lang="en-US" b="1" dirty="0">
                <a:solidFill>
                  <a:srgbClr val="0E172A"/>
                </a:solidFill>
                <a:latin typeface="Arial"/>
                <a:cs typeface="Arial"/>
              </a:rPr>
              <a:t>Patients</a:t>
            </a:r>
            <a:r>
              <a:rPr lang="en-US" b="1" spc="-35" dirty="0">
                <a:solidFill>
                  <a:srgbClr val="0E172A"/>
                </a:solidFill>
                <a:latin typeface="Arial"/>
                <a:cs typeface="Arial"/>
              </a:rPr>
              <a:t> </a:t>
            </a:r>
            <a:r>
              <a:rPr lang="en-US" b="1" dirty="0">
                <a:solidFill>
                  <a:srgbClr val="0E172A"/>
                </a:solidFill>
                <a:latin typeface="Arial"/>
                <a:cs typeface="Arial"/>
              </a:rPr>
              <a:t>Dataset:</a:t>
            </a:r>
            <a:r>
              <a:rPr lang="en-US" b="1" spc="-5" dirty="0">
                <a:solidFill>
                  <a:srgbClr val="0E172A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Contains</a:t>
            </a:r>
            <a:r>
              <a:rPr lang="en-US" spc="-2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patient</a:t>
            </a:r>
            <a:r>
              <a:rPr lang="en-US" spc="-4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tracking</a:t>
            </a:r>
            <a:r>
              <a:rPr lang="en-US" spc="-4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details,</a:t>
            </a:r>
            <a:r>
              <a:rPr lang="en-US" spc="-1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gender</a:t>
            </a:r>
            <a:r>
              <a:rPr lang="en-US" spc="-5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</a:p>
          <a:p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fields,</a:t>
            </a:r>
            <a:r>
              <a:rPr lang="en-US" spc="-4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birth</a:t>
            </a:r>
            <a:r>
              <a:rPr lang="en-US" spc="-2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dates,</a:t>
            </a:r>
            <a:r>
              <a:rPr lang="en-US" spc="-4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spc="-10" dirty="0">
                <a:solidFill>
                  <a:srgbClr val="334154"/>
                </a:solidFill>
                <a:latin typeface="Arial"/>
                <a:cs typeface="Arial"/>
              </a:rPr>
              <a:t>diagnoses,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and</a:t>
            </a:r>
            <a:r>
              <a:rPr lang="en-US" spc="-3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hospital</a:t>
            </a:r>
            <a:r>
              <a:rPr lang="en-US" spc="-6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admission</a:t>
            </a:r>
            <a:r>
              <a:rPr lang="en-US" spc="-3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spc="-10" dirty="0">
                <a:solidFill>
                  <a:srgbClr val="334154"/>
                </a:solidFill>
                <a:latin typeface="Arial"/>
                <a:cs typeface="Arial"/>
              </a:rPr>
              <a:t>logs.</a:t>
            </a:r>
          </a:p>
          <a:p>
            <a:endParaRPr lang="en-US" spc="-10" dirty="0">
              <a:solidFill>
                <a:srgbClr val="334154"/>
              </a:solidFill>
              <a:latin typeface="Arial"/>
              <a:cs typeface="Arial"/>
            </a:endParaRPr>
          </a:p>
          <a:p>
            <a:r>
              <a:rPr lang="en-US" b="1" dirty="0">
                <a:solidFill>
                  <a:srgbClr val="0E172A"/>
                </a:solidFill>
                <a:latin typeface="Arial"/>
                <a:cs typeface="Arial"/>
              </a:rPr>
              <a:t>Subscriber</a:t>
            </a:r>
            <a:r>
              <a:rPr lang="en-US" b="1" spc="-50" dirty="0">
                <a:solidFill>
                  <a:srgbClr val="0E172A"/>
                </a:solidFill>
                <a:latin typeface="Arial"/>
                <a:cs typeface="Arial"/>
              </a:rPr>
              <a:t> </a:t>
            </a:r>
            <a:r>
              <a:rPr lang="en-US" b="1" dirty="0">
                <a:solidFill>
                  <a:srgbClr val="0E172A"/>
                </a:solidFill>
                <a:latin typeface="Arial"/>
                <a:cs typeface="Arial"/>
              </a:rPr>
              <a:t>Table: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Master</a:t>
            </a:r>
            <a:r>
              <a:rPr lang="en-US" spc="-6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profile</a:t>
            </a:r>
            <a:r>
              <a:rPr lang="en-US" spc="-2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data</a:t>
            </a:r>
            <a:r>
              <a:rPr lang="en-US" spc="-2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tracking</a:t>
            </a:r>
            <a:r>
              <a:rPr lang="en-US" spc="-4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age</a:t>
            </a:r>
            <a:r>
              <a:rPr lang="en-US" spc="-2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</a:p>
          <a:p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structures,</a:t>
            </a:r>
            <a:r>
              <a:rPr lang="en-US" spc="-2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locations,</a:t>
            </a:r>
            <a:r>
              <a:rPr lang="en-US" spc="-2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and</a:t>
            </a:r>
            <a:r>
              <a:rPr lang="en-US" spc="-4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spc="-10" dirty="0">
                <a:solidFill>
                  <a:srgbClr val="334154"/>
                </a:solidFill>
                <a:latin typeface="Arial"/>
                <a:cs typeface="Arial"/>
              </a:rPr>
              <a:t>linked subgroups.</a:t>
            </a:r>
            <a:endParaRPr lang="en-US" dirty="0">
              <a:latin typeface="Arial"/>
              <a:cs typeface="Arial"/>
            </a:endParaRPr>
          </a:p>
          <a:p>
            <a:endParaRPr lang="en-US" dirty="0">
              <a:latin typeface="Arial"/>
              <a:cs typeface="Arial"/>
            </a:endParaRPr>
          </a:p>
          <a:p>
            <a:r>
              <a:rPr lang="en-US" b="1" dirty="0">
                <a:solidFill>
                  <a:srgbClr val="0E172A"/>
                </a:solidFill>
                <a:latin typeface="Arial"/>
                <a:cs typeface="Arial"/>
              </a:rPr>
              <a:t>Claims</a:t>
            </a:r>
            <a:r>
              <a:rPr lang="en-US" b="1" spc="-45" dirty="0">
                <a:solidFill>
                  <a:srgbClr val="0E172A"/>
                </a:solidFill>
                <a:latin typeface="Arial"/>
                <a:cs typeface="Arial"/>
              </a:rPr>
              <a:t> </a:t>
            </a:r>
            <a:r>
              <a:rPr lang="en-US" b="1" dirty="0">
                <a:solidFill>
                  <a:srgbClr val="0E172A"/>
                </a:solidFill>
                <a:latin typeface="Arial"/>
                <a:cs typeface="Arial"/>
              </a:rPr>
              <a:t>Log:</a:t>
            </a:r>
            <a:r>
              <a:rPr lang="en-US" b="1" spc="-10" dirty="0">
                <a:solidFill>
                  <a:srgbClr val="0E172A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Transaction</a:t>
            </a:r>
            <a:r>
              <a:rPr lang="en-US" spc="-2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ledger</a:t>
            </a:r>
            <a:r>
              <a:rPr lang="en-US" spc="-4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tracking</a:t>
            </a:r>
            <a:r>
              <a:rPr lang="en-US" spc="-4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claim</a:t>
            </a:r>
            <a:r>
              <a:rPr lang="en-US" spc="-4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codes,</a:t>
            </a:r>
            <a:r>
              <a:rPr lang="en-US" spc="-4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</a:p>
          <a:p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amounts,</a:t>
            </a:r>
            <a:r>
              <a:rPr lang="en-US" spc="-4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and</a:t>
            </a:r>
            <a:r>
              <a:rPr lang="en-US" spc="-2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resolution</a:t>
            </a:r>
            <a:r>
              <a:rPr lang="en-US" spc="-2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spc="-10" dirty="0">
                <a:solidFill>
                  <a:srgbClr val="334154"/>
                </a:solidFill>
                <a:latin typeface="Arial"/>
                <a:cs typeface="Arial"/>
              </a:rPr>
              <a:t>status (Approved/Rejected/Pending).</a:t>
            </a:r>
          </a:p>
          <a:p>
            <a:endParaRPr lang="en-US" b="1" dirty="0">
              <a:solidFill>
                <a:srgbClr val="0E172A"/>
              </a:solidFill>
              <a:latin typeface="Arial"/>
              <a:cs typeface="Arial"/>
            </a:endParaRPr>
          </a:p>
          <a:p>
            <a:r>
              <a:rPr lang="en-US" b="1" dirty="0">
                <a:solidFill>
                  <a:srgbClr val="0E172A"/>
                </a:solidFill>
                <a:latin typeface="Arial"/>
                <a:cs typeface="Arial"/>
              </a:rPr>
              <a:t>Group</a:t>
            </a:r>
            <a:r>
              <a:rPr lang="en-US" b="1" spc="-40" dirty="0">
                <a:solidFill>
                  <a:srgbClr val="0E172A"/>
                </a:solidFill>
                <a:latin typeface="Arial"/>
                <a:cs typeface="Arial"/>
              </a:rPr>
              <a:t> </a:t>
            </a:r>
            <a:r>
              <a:rPr lang="en-US" b="1" dirty="0">
                <a:solidFill>
                  <a:srgbClr val="0E172A"/>
                </a:solidFill>
                <a:latin typeface="Arial"/>
                <a:cs typeface="Arial"/>
              </a:rPr>
              <a:t>&amp;</a:t>
            </a:r>
            <a:r>
              <a:rPr lang="en-US" b="1" spc="-30" dirty="0">
                <a:solidFill>
                  <a:srgbClr val="0E172A"/>
                </a:solidFill>
                <a:latin typeface="Arial"/>
                <a:cs typeface="Arial"/>
              </a:rPr>
              <a:t> </a:t>
            </a:r>
            <a:r>
              <a:rPr lang="en-US" b="1" dirty="0">
                <a:solidFill>
                  <a:srgbClr val="0E172A"/>
                </a:solidFill>
                <a:latin typeface="Arial"/>
                <a:cs typeface="Arial"/>
              </a:rPr>
              <a:t>Subgroup</a:t>
            </a:r>
            <a:r>
              <a:rPr lang="en-US" b="1" spc="-35" dirty="0">
                <a:solidFill>
                  <a:srgbClr val="0E172A"/>
                </a:solidFill>
                <a:latin typeface="Arial"/>
                <a:cs typeface="Arial"/>
              </a:rPr>
              <a:t> </a:t>
            </a:r>
            <a:r>
              <a:rPr lang="en-US" b="1" dirty="0">
                <a:solidFill>
                  <a:srgbClr val="0E172A"/>
                </a:solidFill>
                <a:latin typeface="Arial"/>
                <a:cs typeface="Arial"/>
              </a:rPr>
              <a:t>Profiles:</a:t>
            </a:r>
            <a:r>
              <a:rPr lang="en-US" b="1" spc="-5" dirty="0">
                <a:solidFill>
                  <a:srgbClr val="0E172A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Financial</a:t>
            </a:r>
            <a:r>
              <a:rPr lang="en-US" spc="-3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structural</a:t>
            </a:r>
            <a:r>
              <a:rPr lang="en-US" spc="-7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logs</a:t>
            </a:r>
            <a:r>
              <a:rPr lang="en-US" spc="-3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</a:p>
          <a:p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tracking</a:t>
            </a:r>
            <a:r>
              <a:rPr lang="en-US" spc="-2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written</a:t>
            </a:r>
            <a:r>
              <a:rPr lang="en-US" spc="-4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policy</a:t>
            </a:r>
            <a:r>
              <a:rPr lang="en-US" spc="-5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premiums</a:t>
            </a:r>
            <a:r>
              <a:rPr lang="en-US" spc="-5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spc="-25" dirty="0">
                <a:solidFill>
                  <a:srgbClr val="334154"/>
                </a:solidFill>
                <a:latin typeface="Arial"/>
                <a:cs typeface="Arial"/>
              </a:rPr>
              <a:t>and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monthly</a:t>
            </a:r>
            <a:r>
              <a:rPr lang="en-US" spc="-2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spc="-10" dirty="0">
                <a:solidFill>
                  <a:srgbClr val="334154"/>
                </a:solidFill>
                <a:latin typeface="Arial"/>
                <a:cs typeface="Arial"/>
              </a:rPr>
              <a:t>rates.</a:t>
            </a:r>
            <a:endParaRPr lang="en-US" dirty="0">
              <a:latin typeface="Arial"/>
              <a:cs typeface="Arial"/>
            </a:endParaRPr>
          </a:p>
          <a:p>
            <a:endParaRPr lang="en-US" dirty="0">
              <a:latin typeface="Arial"/>
              <a:cs typeface="Arial"/>
            </a:endParaRPr>
          </a:p>
          <a:p>
            <a:endParaRPr lang="en-US" dirty="0">
              <a:latin typeface="Arial"/>
              <a:cs typeface="Arial"/>
            </a:endParaRPr>
          </a:p>
          <a:p>
            <a:endParaRPr lang="en-US" dirty="0"/>
          </a:p>
        </p:txBody>
      </p:sp>
      <p:grpSp>
        <p:nvGrpSpPr>
          <p:cNvPr id="4" name="object 3">
            <a:extLst>
              <a:ext uri="{FF2B5EF4-FFF2-40B4-BE49-F238E27FC236}">
                <a16:creationId xmlns:a16="http://schemas.microsoft.com/office/drawing/2014/main" id="{3FCC8C26-A12C-BA91-49F0-5A891ED0FE8A}"/>
              </a:ext>
            </a:extLst>
          </p:cNvPr>
          <p:cNvGrpSpPr/>
          <p:nvPr/>
        </p:nvGrpSpPr>
        <p:grpSpPr>
          <a:xfrm>
            <a:off x="5602730" y="1447801"/>
            <a:ext cx="6360669" cy="5257799"/>
            <a:chOff x="914704" y="2716657"/>
            <a:chExt cx="5946140" cy="4643755"/>
          </a:xfrm>
        </p:grpSpPr>
        <p:sp>
          <p:nvSpPr>
            <p:cNvPr id="5" name="object 4">
              <a:extLst>
                <a:ext uri="{FF2B5EF4-FFF2-40B4-BE49-F238E27FC236}">
                  <a16:creationId xmlns:a16="http://schemas.microsoft.com/office/drawing/2014/main" id="{2B528D3A-4DEF-6785-6C92-20EC5499336D}"/>
                </a:ext>
              </a:extLst>
            </p:cNvPr>
            <p:cNvSpPr/>
            <p:nvPr/>
          </p:nvSpPr>
          <p:spPr>
            <a:xfrm>
              <a:off x="914704" y="2716657"/>
              <a:ext cx="5946140" cy="4643755"/>
            </a:xfrm>
            <a:custGeom>
              <a:avLst/>
              <a:gdLst/>
              <a:ahLst/>
              <a:cxnLst/>
              <a:rect l="l" t="t" r="r" b="b"/>
              <a:pathLst>
                <a:path w="5946140" h="4643755">
                  <a:moveTo>
                    <a:pt x="5945758" y="0"/>
                  </a:moveTo>
                  <a:lnTo>
                    <a:pt x="0" y="0"/>
                  </a:lnTo>
                  <a:lnTo>
                    <a:pt x="0" y="4643374"/>
                  </a:lnTo>
                  <a:lnTo>
                    <a:pt x="5945758" y="4643374"/>
                  </a:lnTo>
                  <a:lnTo>
                    <a:pt x="5945758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9F329D76-3255-D41C-990E-1F1BED6EAC5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47775" y="2883789"/>
              <a:ext cx="5276850" cy="4324350"/>
            </a:xfrm>
            <a:prstGeom prst="rect">
              <a:avLst/>
            </a:prstGeom>
          </p:spPr>
        </p:pic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655BE15-B43D-D70E-EECC-99599E1AE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6DA1BA98-168F-0DD3-4AE7-17242E5DD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cap="none"/>
              <a:t>Capstone Project Tech Stack: Python, PySpark, PyCharm, AWS S3, Amazon Redshift Serverless, Git, JiraJira.</a:t>
            </a:r>
            <a:endParaRPr lang="en-US" cap="none" dirty="0"/>
          </a:p>
        </p:txBody>
      </p:sp>
    </p:spTree>
    <p:extLst>
      <p:ext uri="{BB962C8B-B14F-4D97-AF65-F5344CB8AC3E}">
        <p14:creationId xmlns:p14="http://schemas.microsoft.com/office/powerpoint/2010/main" val="15965733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3A50D-D100-997C-C8F3-124FD9E7A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3A508-2E78-A548-37C2-55CF3195F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52400"/>
            <a:ext cx="10963655" cy="1323089"/>
          </a:xfrm>
        </p:spPr>
        <p:txBody>
          <a:bodyPr/>
          <a:lstStyle/>
          <a:p>
            <a:br>
              <a:rPr lang="en-US" sz="2800" dirty="0">
                <a:latin typeface="Arial"/>
                <a:cs typeface="Arial"/>
              </a:rPr>
            </a:br>
            <a:br>
              <a:rPr lang="en-US" sz="2800" dirty="0">
                <a:latin typeface="Arial"/>
                <a:cs typeface="Arial"/>
              </a:rPr>
            </a:br>
            <a:br>
              <a:rPr lang="en-US" sz="2800" dirty="0">
                <a:latin typeface="Arial"/>
                <a:cs typeface="Arial"/>
              </a:rPr>
            </a:br>
            <a:br>
              <a:rPr lang="en-US" sz="2800" dirty="0">
                <a:latin typeface="Arial"/>
                <a:cs typeface="Arial"/>
              </a:rPr>
            </a:br>
            <a:br>
              <a:rPr lang="en-US" sz="2800" dirty="0">
                <a:latin typeface="Arial"/>
                <a:cs typeface="Arial"/>
              </a:rPr>
            </a:br>
            <a:br>
              <a:rPr lang="en-US" sz="2800" dirty="0">
                <a:latin typeface="Arial"/>
                <a:cs typeface="Arial"/>
              </a:rPr>
            </a:br>
            <a:r>
              <a:rPr lang="en-US" sz="2800" b="1" dirty="0">
                <a:solidFill>
                  <a:srgbClr val="1A365D"/>
                </a:solidFill>
                <a:latin typeface="Arial"/>
                <a:cs typeface="Arial"/>
              </a:rPr>
              <a:t>Data</a:t>
            </a:r>
            <a:r>
              <a:rPr lang="en-US" sz="2800" b="1" spc="-35" dirty="0">
                <a:solidFill>
                  <a:srgbClr val="1A365D"/>
                </a:solidFill>
                <a:latin typeface="Arial"/>
                <a:cs typeface="Arial"/>
              </a:rPr>
              <a:t> </a:t>
            </a:r>
            <a:r>
              <a:rPr lang="en-US" sz="2800" b="1" dirty="0">
                <a:solidFill>
                  <a:srgbClr val="1A365D"/>
                </a:solidFill>
                <a:latin typeface="Arial"/>
                <a:cs typeface="Arial"/>
              </a:rPr>
              <a:t>Cleaning</a:t>
            </a:r>
            <a:r>
              <a:rPr lang="en-US" sz="2800" b="1" spc="-40" dirty="0">
                <a:solidFill>
                  <a:srgbClr val="1A365D"/>
                </a:solidFill>
                <a:latin typeface="Arial"/>
                <a:cs typeface="Arial"/>
              </a:rPr>
              <a:t> </a:t>
            </a:r>
            <a:r>
              <a:rPr lang="en-US" sz="2800" b="1" dirty="0">
                <a:solidFill>
                  <a:srgbClr val="1A365D"/>
                </a:solidFill>
                <a:latin typeface="Arial"/>
                <a:cs typeface="Arial"/>
              </a:rPr>
              <a:t>&amp;</a:t>
            </a:r>
            <a:r>
              <a:rPr lang="en-US" sz="2800" b="1" spc="-15" dirty="0">
                <a:solidFill>
                  <a:srgbClr val="1A365D"/>
                </a:solidFill>
                <a:latin typeface="Arial"/>
                <a:cs typeface="Arial"/>
              </a:rPr>
              <a:t> </a:t>
            </a:r>
            <a:r>
              <a:rPr lang="en-US" sz="2800" b="1" dirty="0">
                <a:solidFill>
                  <a:srgbClr val="1A365D"/>
                </a:solidFill>
                <a:latin typeface="Arial"/>
                <a:cs typeface="Arial"/>
              </a:rPr>
              <a:t>Transformation</a:t>
            </a:r>
            <a:r>
              <a:rPr lang="en-US" sz="2800" b="1" spc="-40" dirty="0">
                <a:solidFill>
                  <a:srgbClr val="1A365D"/>
                </a:solidFill>
                <a:latin typeface="Arial"/>
                <a:cs typeface="Arial"/>
              </a:rPr>
              <a:t> </a:t>
            </a:r>
            <a:r>
              <a:rPr lang="en-US" sz="2800" b="1" spc="-10" dirty="0">
                <a:solidFill>
                  <a:srgbClr val="1A365D"/>
                </a:solidFill>
                <a:latin typeface="Arial"/>
                <a:cs typeface="Arial"/>
              </a:rPr>
              <a:t>Process</a:t>
            </a:r>
            <a:br>
              <a:rPr lang="en-US" sz="2800" dirty="0">
                <a:latin typeface="Arial"/>
                <a:cs typeface="Arial"/>
              </a:rPr>
            </a:br>
            <a:br>
              <a:rPr lang="en-US" sz="2800" dirty="0">
                <a:latin typeface="Arial"/>
                <a:cs typeface="Arial"/>
              </a:rPr>
            </a:b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20A6BB-7F07-B0DA-43AC-53DA54593B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295400"/>
            <a:ext cx="11268454" cy="5571744"/>
          </a:xfrm>
        </p:spPr>
        <p:txBody>
          <a:bodyPr/>
          <a:lstStyle/>
          <a:p>
            <a:pPr marL="12700" marR="307975">
              <a:lnSpc>
                <a:spcPct val="112700"/>
              </a:lnSpc>
              <a:spcBef>
                <a:spcPts val="110"/>
              </a:spcBef>
              <a:buClr>
                <a:srgbClr val="334154"/>
              </a:buClr>
              <a:tabLst>
                <a:tab pos="241300" algn="l"/>
              </a:tabLst>
            </a:pPr>
            <a:r>
              <a:rPr lang="en-US" b="1" dirty="0">
                <a:solidFill>
                  <a:srgbClr val="0E172A"/>
                </a:solidFill>
                <a:latin typeface="Arial"/>
                <a:cs typeface="Arial"/>
              </a:rPr>
              <a:t>Null</a:t>
            </a:r>
            <a:r>
              <a:rPr lang="en-US" b="1" spc="-55" dirty="0">
                <a:solidFill>
                  <a:srgbClr val="0E172A"/>
                </a:solidFill>
                <a:latin typeface="Arial"/>
                <a:cs typeface="Arial"/>
              </a:rPr>
              <a:t> </a:t>
            </a:r>
            <a:r>
              <a:rPr lang="en-US" b="1" dirty="0">
                <a:solidFill>
                  <a:srgbClr val="0E172A"/>
                </a:solidFill>
                <a:latin typeface="Arial"/>
                <a:cs typeface="Arial"/>
              </a:rPr>
              <a:t>Values</a:t>
            </a:r>
            <a:r>
              <a:rPr lang="en-US" b="1" spc="-30" dirty="0">
                <a:solidFill>
                  <a:srgbClr val="0E172A"/>
                </a:solidFill>
                <a:latin typeface="Arial"/>
                <a:cs typeface="Arial"/>
              </a:rPr>
              <a:t> </a:t>
            </a:r>
            <a:r>
              <a:rPr lang="en-US" b="1" dirty="0">
                <a:solidFill>
                  <a:srgbClr val="0E172A"/>
                </a:solidFill>
                <a:latin typeface="Arial"/>
                <a:cs typeface="Arial"/>
              </a:rPr>
              <a:t>Audit:</a:t>
            </a:r>
            <a:r>
              <a:rPr lang="en-US" b="1" spc="-5" dirty="0">
                <a:solidFill>
                  <a:srgbClr val="0E172A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Distributed</a:t>
            </a:r>
            <a:r>
              <a:rPr lang="en-US" spc="-3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scans</a:t>
            </a:r>
            <a:r>
              <a:rPr lang="en-US" spc="-3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implemented</a:t>
            </a:r>
            <a:r>
              <a:rPr lang="en-US" spc="-3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via</a:t>
            </a:r>
          </a:p>
          <a:p>
            <a:pPr marL="12700" marR="307975">
              <a:lnSpc>
                <a:spcPct val="112700"/>
              </a:lnSpc>
              <a:spcBef>
                <a:spcPts val="110"/>
              </a:spcBef>
              <a:buClr>
                <a:srgbClr val="334154"/>
              </a:buClr>
              <a:tabLst>
                <a:tab pos="241300" algn="l"/>
              </a:tabLst>
            </a:pPr>
            <a:r>
              <a:rPr lang="en-US" dirty="0" err="1">
                <a:solidFill>
                  <a:srgbClr val="334154"/>
                </a:solidFill>
                <a:latin typeface="Arial"/>
                <a:cs typeface="Arial"/>
              </a:rPr>
              <a:t>PySpark</a:t>
            </a:r>
            <a:r>
              <a:rPr lang="en-US" spc="-5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to</a:t>
            </a:r>
            <a:r>
              <a:rPr lang="en-US" spc="-5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systematically</a:t>
            </a:r>
            <a:r>
              <a:rPr lang="en-US" spc="-3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spc="-10" dirty="0">
                <a:solidFill>
                  <a:srgbClr val="334154"/>
                </a:solidFill>
                <a:latin typeface="Arial"/>
                <a:cs typeface="Arial"/>
              </a:rPr>
              <a:t>count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missing</a:t>
            </a:r>
            <a:r>
              <a:rPr lang="en-US" spc="-1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records</a:t>
            </a:r>
            <a:r>
              <a:rPr lang="en-US" spc="-4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across</a:t>
            </a:r>
            <a:r>
              <a:rPr lang="en-US" spc="-4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all</a:t>
            </a:r>
          </a:p>
          <a:p>
            <a:pPr marL="12700" marR="307975">
              <a:lnSpc>
                <a:spcPct val="112700"/>
              </a:lnSpc>
              <a:spcBef>
                <a:spcPts val="110"/>
              </a:spcBef>
              <a:buClr>
                <a:srgbClr val="334154"/>
              </a:buClr>
              <a:tabLst>
                <a:tab pos="241300" algn="l"/>
              </a:tabLst>
            </a:pPr>
            <a:r>
              <a:rPr lang="en-US" spc="-2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spc="-10" dirty="0">
                <a:solidFill>
                  <a:srgbClr val="334154"/>
                </a:solidFill>
                <a:latin typeface="Arial"/>
                <a:cs typeface="Arial"/>
              </a:rPr>
              <a:t>columns.</a:t>
            </a:r>
            <a:endParaRPr lang="en-US" dirty="0">
              <a:latin typeface="Arial"/>
              <a:cs typeface="Arial"/>
            </a:endParaRPr>
          </a:p>
          <a:p>
            <a:endParaRPr lang="en-US" spc="-10" dirty="0">
              <a:solidFill>
                <a:srgbClr val="334154"/>
              </a:solidFill>
              <a:latin typeface="Arial"/>
              <a:cs typeface="Arial"/>
            </a:endParaRPr>
          </a:p>
          <a:p>
            <a:r>
              <a:rPr lang="en-US" b="1" dirty="0">
                <a:solidFill>
                  <a:srgbClr val="0E172A"/>
                </a:solidFill>
                <a:latin typeface="Arial"/>
                <a:cs typeface="Arial"/>
              </a:rPr>
              <a:t>Standardization</a:t>
            </a:r>
            <a:r>
              <a:rPr lang="en-US" b="1" spc="-35" dirty="0">
                <a:solidFill>
                  <a:srgbClr val="0E172A"/>
                </a:solidFill>
                <a:latin typeface="Arial"/>
                <a:cs typeface="Arial"/>
              </a:rPr>
              <a:t> </a:t>
            </a:r>
            <a:r>
              <a:rPr lang="en-US" b="1" dirty="0">
                <a:solidFill>
                  <a:srgbClr val="0E172A"/>
                </a:solidFill>
                <a:latin typeface="Arial"/>
                <a:cs typeface="Arial"/>
              </a:rPr>
              <a:t>&amp;</a:t>
            </a:r>
            <a:r>
              <a:rPr lang="en-US" b="1" spc="-35" dirty="0">
                <a:solidFill>
                  <a:srgbClr val="0E172A"/>
                </a:solidFill>
                <a:latin typeface="Arial"/>
                <a:cs typeface="Arial"/>
              </a:rPr>
              <a:t> </a:t>
            </a:r>
            <a:r>
              <a:rPr lang="en-US" b="1" dirty="0">
                <a:solidFill>
                  <a:srgbClr val="0E172A"/>
                </a:solidFill>
                <a:latin typeface="Arial"/>
                <a:cs typeface="Arial"/>
              </a:rPr>
              <a:t>Imputation:</a:t>
            </a:r>
            <a:r>
              <a:rPr lang="en-US" b="1" spc="15" dirty="0">
                <a:solidFill>
                  <a:srgbClr val="0E172A"/>
                </a:solidFill>
                <a:latin typeface="Arial"/>
                <a:cs typeface="Arial"/>
              </a:rPr>
              <a:t> </a:t>
            </a:r>
            <a:r>
              <a:rPr lang="en-US" spc="-10" dirty="0">
                <a:solidFill>
                  <a:srgbClr val="334154"/>
                </a:solidFill>
                <a:latin typeface="Arial"/>
                <a:cs typeface="Arial"/>
              </a:rPr>
              <a:t>Missing</a:t>
            </a:r>
            <a:r>
              <a:rPr lang="en-US" spc="-4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fields</a:t>
            </a:r>
            <a:r>
              <a:rPr lang="en-US" spc="-5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and</a:t>
            </a:r>
            <a:r>
              <a:rPr lang="en-US" spc="-2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corrupted</a:t>
            </a:r>
            <a:r>
              <a:rPr lang="en-US" spc="-4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</a:p>
          <a:p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values</a:t>
            </a:r>
            <a:r>
              <a:rPr lang="en-US" spc="-3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replaced</a:t>
            </a:r>
            <a:r>
              <a:rPr lang="en-US" spc="-4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uniformly</a:t>
            </a:r>
            <a:r>
              <a:rPr lang="en-US" spc="-3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spc="-20" dirty="0">
                <a:solidFill>
                  <a:srgbClr val="334154"/>
                </a:solidFill>
                <a:latin typeface="Arial"/>
                <a:cs typeface="Arial"/>
              </a:rPr>
              <a:t>with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standard</a:t>
            </a:r>
            <a:r>
              <a:rPr lang="en-US" spc="-1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strings</a:t>
            </a:r>
            <a:r>
              <a:rPr lang="en-US" spc="-4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or</a:t>
            </a:r>
            <a:r>
              <a:rPr lang="en-US" spc="-2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'NA'</a:t>
            </a:r>
            <a:r>
              <a:rPr lang="en-US" spc="-1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spc="-10" dirty="0">
                <a:solidFill>
                  <a:srgbClr val="334154"/>
                </a:solidFill>
                <a:latin typeface="Arial"/>
                <a:cs typeface="Arial"/>
              </a:rPr>
              <a:t>markers.</a:t>
            </a:r>
          </a:p>
          <a:p>
            <a:r>
              <a:rPr lang="en-US" spc="-1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</a:p>
          <a:p>
            <a:r>
              <a:rPr lang="en-US" b="1" spc="-10" dirty="0">
                <a:solidFill>
                  <a:srgbClr val="0E172A"/>
                </a:solidFill>
                <a:latin typeface="Arial"/>
                <a:cs typeface="Arial"/>
              </a:rPr>
              <a:t>Deduplication</a:t>
            </a:r>
            <a:r>
              <a:rPr lang="en-US" b="1" dirty="0">
                <a:solidFill>
                  <a:srgbClr val="0E172A"/>
                </a:solidFill>
                <a:latin typeface="Arial"/>
                <a:cs typeface="Arial"/>
              </a:rPr>
              <a:t> Layer:</a:t>
            </a:r>
            <a:r>
              <a:rPr lang="en-US" b="1" spc="35" dirty="0">
                <a:solidFill>
                  <a:srgbClr val="0E172A"/>
                </a:solidFill>
                <a:latin typeface="Arial"/>
                <a:cs typeface="Arial"/>
              </a:rPr>
              <a:t> </a:t>
            </a:r>
            <a:r>
              <a:rPr lang="en-US" spc="-10" dirty="0">
                <a:solidFill>
                  <a:srgbClr val="334154"/>
                </a:solidFill>
                <a:latin typeface="Arial"/>
                <a:cs typeface="Arial"/>
              </a:rPr>
              <a:t>Row-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level</a:t>
            </a:r>
            <a:r>
              <a:rPr lang="en-US" spc="-2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evaluation</a:t>
            </a:r>
            <a:r>
              <a:rPr lang="en-US" spc="-1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using</a:t>
            </a:r>
            <a:r>
              <a:rPr lang="en-US" spc="-1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Spark’s</a:t>
            </a:r>
            <a:r>
              <a:rPr lang="en-US" spc="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</a:p>
          <a:p>
            <a:r>
              <a:rPr lang="en-US" spc="-10" dirty="0">
                <a:solidFill>
                  <a:srgbClr val="334154"/>
                </a:solidFill>
                <a:latin typeface="Arial"/>
                <a:cs typeface="Arial"/>
              </a:rPr>
              <a:t>`.</a:t>
            </a:r>
            <a:r>
              <a:rPr lang="en-US" spc="-10" dirty="0" err="1">
                <a:solidFill>
                  <a:srgbClr val="334154"/>
                </a:solidFill>
                <a:latin typeface="Arial"/>
                <a:cs typeface="Arial"/>
              </a:rPr>
              <a:t>dropDuplicates</a:t>
            </a:r>
            <a:r>
              <a:rPr lang="en-US" spc="-10" dirty="0">
                <a:solidFill>
                  <a:srgbClr val="334154"/>
                </a:solidFill>
                <a:latin typeface="Arial"/>
                <a:cs typeface="Arial"/>
              </a:rPr>
              <a:t>()`</a:t>
            </a:r>
            <a:r>
              <a:rPr lang="en-US" spc="-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to</a:t>
            </a:r>
            <a:r>
              <a:rPr lang="en-US" spc="1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spc="-10" dirty="0">
                <a:solidFill>
                  <a:srgbClr val="334154"/>
                </a:solidFill>
                <a:latin typeface="Arial"/>
                <a:cs typeface="Arial"/>
              </a:rPr>
              <a:t>remove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identical</a:t>
            </a:r>
            <a:r>
              <a:rPr lang="en-US" spc="-4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redundant</a:t>
            </a:r>
            <a:r>
              <a:rPr lang="en-US" spc="-4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transaction</a:t>
            </a:r>
          </a:p>
          <a:p>
            <a:r>
              <a:rPr lang="en-US" spc="-3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spc="-20" dirty="0">
                <a:solidFill>
                  <a:srgbClr val="334154"/>
                </a:solidFill>
                <a:latin typeface="Arial"/>
                <a:cs typeface="Arial"/>
              </a:rPr>
              <a:t>rows.</a:t>
            </a:r>
            <a:endParaRPr lang="en-US" dirty="0">
              <a:latin typeface="Arial"/>
              <a:cs typeface="Arial"/>
            </a:endParaRPr>
          </a:p>
          <a:p>
            <a:r>
              <a:rPr lang="en-US" b="1" dirty="0">
                <a:solidFill>
                  <a:srgbClr val="0E172A"/>
                </a:solidFill>
                <a:latin typeface="Arial"/>
                <a:cs typeface="Arial"/>
              </a:rPr>
              <a:t>Data</a:t>
            </a:r>
            <a:r>
              <a:rPr lang="en-US" b="1" spc="-40" dirty="0">
                <a:solidFill>
                  <a:srgbClr val="0E172A"/>
                </a:solidFill>
                <a:latin typeface="Arial"/>
                <a:cs typeface="Arial"/>
              </a:rPr>
              <a:t> </a:t>
            </a:r>
            <a:r>
              <a:rPr lang="en-US" b="1" dirty="0">
                <a:solidFill>
                  <a:srgbClr val="0E172A"/>
                </a:solidFill>
                <a:latin typeface="Arial"/>
                <a:cs typeface="Arial"/>
              </a:rPr>
              <a:t>Type</a:t>
            </a:r>
            <a:r>
              <a:rPr lang="en-US" b="1" spc="-15" dirty="0">
                <a:solidFill>
                  <a:srgbClr val="0E172A"/>
                </a:solidFill>
                <a:latin typeface="Arial"/>
                <a:cs typeface="Arial"/>
              </a:rPr>
              <a:t> </a:t>
            </a:r>
            <a:r>
              <a:rPr lang="en-US" b="1" dirty="0">
                <a:solidFill>
                  <a:srgbClr val="0E172A"/>
                </a:solidFill>
                <a:latin typeface="Arial"/>
                <a:cs typeface="Arial"/>
              </a:rPr>
              <a:t>Formatting:</a:t>
            </a:r>
            <a:r>
              <a:rPr lang="en-US" b="1" spc="5" dirty="0">
                <a:solidFill>
                  <a:srgbClr val="0E172A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Forcing</a:t>
            </a:r>
            <a:r>
              <a:rPr lang="en-US" spc="-3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correct</a:t>
            </a:r>
            <a:r>
              <a:rPr lang="en-US" spc="-4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timestamp</a:t>
            </a:r>
            <a:r>
              <a:rPr lang="en-US" spc="-2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types</a:t>
            </a:r>
            <a:r>
              <a:rPr lang="en-US" spc="-2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on</a:t>
            </a:r>
            <a:r>
              <a:rPr lang="en-US" spc="-1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</a:p>
          <a:p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birth</a:t>
            </a:r>
            <a:r>
              <a:rPr lang="en-US" spc="-2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dates</a:t>
            </a:r>
            <a:r>
              <a:rPr lang="en-US" spc="-4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and</a:t>
            </a:r>
            <a:r>
              <a:rPr lang="en-US" spc="-1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spc="-10" dirty="0">
                <a:solidFill>
                  <a:srgbClr val="334154"/>
                </a:solidFill>
                <a:latin typeface="Arial"/>
                <a:cs typeface="Arial"/>
              </a:rPr>
              <a:t>mapping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decimal</a:t>
            </a:r>
            <a:r>
              <a:rPr lang="en-US" spc="-5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numeric</a:t>
            </a:r>
            <a:r>
              <a:rPr lang="en-US" spc="-2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values</a:t>
            </a:r>
            <a:r>
              <a:rPr lang="en-US" spc="-4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onto</a:t>
            </a:r>
            <a:r>
              <a:rPr lang="en-US" spc="-3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claim</a:t>
            </a:r>
            <a:r>
              <a:rPr lang="en-US" spc="-5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</a:p>
          <a:p>
            <a:r>
              <a:rPr lang="en-US" spc="-10" dirty="0">
                <a:solidFill>
                  <a:srgbClr val="334154"/>
                </a:solidFill>
                <a:latin typeface="Arial"/>
                <a:cs typeface="Arial"/>
              </a:rPr>
              <a:t>fields.</a:t>
            </a:r>
            <a:endParaRPr lang="en-US" dirty="0">
              <a:latin typeface="Arial"/>
              <a:cs typeface="Arial"/>
            </a:endParaRPr>
          </a:p>
          <a:p>
            <a:endParaRPr lang="en-US" dirty="0">
              <a:latin typeface="Arial"/>
              <a:cs typeface="Arial"/>
            </a:endParaRPr>
          </a:p>
          <a:p>
            <a:endParaRPr lang="en-US" dirty="0"/>
          </a:p>
        </p:txBody>
      </p:sp>
      <p:grpSp>
        <p:nvGrpSpPr>
          <p:cNvPr id="7" name="object 3">
            <a:extLst>
              <a:ext uri="{FF2B5EF4-FFF2-40B4-BE49-F238E27FC236}">
                <a16:creationId xmlns:a16="http://schemas.microsoft.com/office/drawing/2014/main" id="{865FDDB5-5CD2-6643-B0EE-029B7567D43C}"/>
              </a:ext>
            </a:extLst>
          </p:cNvPr>
          <p:cNvGrpSpPr/>
          <p:nvPr/>
        </p:nvGrpSpPr>
        <p:grpSpPr>
          <a:xfrm>
            <a:off x="5663690" y="1448057"/>
            <a:ext cx="6299709" cy="5029155"/>
            <a:chOff x="914704" y="2715895"/>
            <a:chExt cx="5946140" cy="3013202"/>
          </a:xfrm>
        </p:grpSpPr>
        <p:sp>
          <p:nvSpPr>
            <p:cNvPr id="8" name="object 4">
              <a:extLst>
                <a:ext uri="{FF2B5EF4-FFF2-40B4-BE49-F238E27FC236}">
                  <a16:creationId xmlns:a16="http://schemas.microsoft.com/office/drawing/2014/main" id="{1A007332-9186-3F53-BA83-A81635AFBB5E}"/>
                </a:ext>
              </a:extLst>
            </p:cNvPr>
            <p:cNvSpPr/>
            <p:nvPr/>
          </p:nvSpPr>
          <p:spPr>
            <a:xfrm>
              <a:off x="914704" y="2716657"/>
              <a:ext cx="5946140" cy="3012440"/>
            </a:xfrm>
            <a:custGeom>
              <a:avLst/>
              <a:gdLst/>
              <a:ahLst/>
              <a:cxnLst/>
              <a:rect l="l" t="t" r="r" b="b"/>
              <a:pathLst>
                <a:path w="5946140" h="3012440">
                  <a:moveTo>
                    <a:pt x="5945758" y="0"/>
                  </a:moveTo>
                  <a:lnTo>
                    <a:pt x="0" y="0"/>
                  </a:lnTo>
                  <a:lnTo>
                    <a:pt x="0" y="3012059"/>
                  </a:lnTo>
                  <a:lnTo>
                    <a:pt x="5945758" y="3012059"/>
                  </a:lnTo>
                  <a:lnTo>
                    <a:pt x="5945758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5">
              <a:extLst>
                <a:ext uri="{FF2B5EF4-FFF2-40B4-BE49-F238E27FC236}">
                  <a16:creationId xmlns:a16="http://schemas.microsoft.com/office/drawing/2014/main" id="{38AA92CE-C327-15AB-CA76-9077E742B63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3650" y="2715895"/>
              <a:ext cx="5245100" cy="2465215"/>
            </a:xfrm>
            <a:prstGeom prst="rect">
              <a:avLst/>
            </a:prstGeom>
          </p:spPr>
        </p:pic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88584D-BA09-B186-01CD-2D7BB10DE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1CF08D5-8F45-D4EE-5B29-8B41DEB7E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cap="none"/>
              <a:t>Capstone Project Tech Stack: Python, PySpark, PyCharm, AWS S3, Amazon Redshift Serverless, Git, JiraJira.</a:t>
            </a:r>
            <a:endParaRPr lang="en-US" cap="none" dirty="0"/>
          </a:p>
        </p:txBody>
      </p:sp>
    </p:spTree>
    <p:extLst>
      <p:ext uri="{BB962C8B-B14F-4D97-AF65-F5344CB8AC3E}">
        <p14:creationId xmlns:p14="http://schemas.microsoft.com/office/powerpoint/2010/main" val="39481203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3CDAA-ED79-2DC9-3F42-8D1EB2F8D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90D80-9055-116F-4220-6F0826C85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52400"/>
            <a:ext cx="10963655" cy="1323089"/>
          </a:xfrm>
        </p:spPr>
        <p:txBody>
          <a:bodyPr/>
          <a:lstStyle/>
          <a:p>
            <a:br>
              <a:rPr lang="en-US" sz="2800" dirty="0">
                <a:latin typeface="Arial"/>
                <a:cs typeface="Arial"/>
              </a:rPr>
            </a:br>
            <a:br>
              <a:rPr lang="en-US" sz="2800" dirty="0">
                <a:latin typeface="Arial"/>
                <a:cs typeface="Arial"/>
              </a:rPr>
            </a:br>
            <a:br>
              <a:rPr lang="en-US" sz="2800" dirty="0">
                <a:latin typeface="Arial"/>
                <a:cs typeface="Arial"/>
              </a:rPr>
            </a:br>
            <a:br>
              <a:rPr lang="en-US" sz="2800" dirty="0">
                <a:latin typeface="Arial"/>
                <a:cs typeface="Arial"/>
              </a:rPr>
            </a:br>
            <a:br>
              <a:rPr lang="en-US" sz="2800" dirty="0">
                <a:latin typeface="Arial"/>
                <a:cs typeface="Arial"/>
              </a:rPr>
            </a:br>
            <a:br>
              <a:rPr lang="en-US" sz="2800" dirty="0">
                <a:latin typeface="Arial"/>
                <a:cs typeface="Arial"/>
              </a:rPr>
            </a:br>
            <a:br>
              <a:rPr lang="en-US" sz="2800" dirty="0">
                <a:latin typeface="Arial"/>
                <a:cs typeface="Arial"/>
              </a:rPr>
            </a:br>
            <a:br>
              <a:rPr lang="en-US" sz="2800" dirty="0">
                <a:latin typeface="Arial"/>
                <a:cs typeface="Arial"/>
              </a:rPr>
            </a:br>
            <a:r>
              <a:rPr lang="en-US" sz="2800" b="1" dirty="0">
                <a:solidFill>
                  <a:srgbClr val="1A365D"/>
                </a:solidFill>
                <a:latin typeface="Arial"/>
                <a:cs typeface="Arial"/>
              </a:rPr>
              <a:t>AWS</a:t>
            </a:r>
            <a:r>
              <a:rPr lang="en-US" sz="2800" b="1" spc="-30" dirty="0">
                <a:solidFill>
                  <a:srgbClr val="1A365D"/>
                </a:solidFill>
                <a:latin typeface="Arial"/>
                <a:cs typeface="Arial"/>
              </a:rPr>
              <a:t> </a:t>
            </a:r>
            <a:r>
              <a:rPr lang="en-US" sz="2800" b="1" dirty="0">
                <a:solidFill>
                  <a:srgbClr val="1A365D"/>
                </a:solidFill>
                <a:latin typeface="Arial"/>
                <a:cs typeface="Arial"/>
              </a:rPr>
              <a:t>Redshift</a:t>
            </a:r>
            <a:r>
              <a:rPr lang="en-US" sz="2800" b="1" spc="-25" dirty="0">
                <a:solidFill>
                  <a:srgbClr val="1A365D"/>
                </a:solidFill>
                <a:latin typeface="Arial"/>
                <a:cs typeface="Arial"/>
              </a:rPr>
              <a:t> </a:t>
            </a:r>
            <a:r>
              <a:rPr lang="en-US" sz="2800" b="1" dirty="0">
                <a:solidFill>
                  <a:srgbClr val="1A365D"/>
                </a:solidFill>
                <a:latin typeface="Arial"/>
                <a:cs typeface="Arial"/>
              </a:rPr>
              <a:t>Target</a:t>
            </a:r>
            <a:r>
              <a:rPr lang="en-US" sz="2800" b="1" spc="-45" dirty="0">
                <a:solidFill>
                  <a:srgbClr val="1A365D"/>
                </a:solidFill>
                <a:latin typeface="Arial"/>
                <a:cs typeface="Arial"/>
              </a:rPr>
              <a:t> </a:t>
            </a:r>
            <a:r>
              <a:rPr lang="en-US" sz="2800" b="1" dirty="0">
                <a:solidFill>
                  <a:srgbClr val="1A365D"/>
                </a:solidFill>
                <a:latin typeface="Arial"/>
                <a:cs typeface="Arial"/>
              </a:rPr>
              <a:t>Database</a:t>
            </a:r>
            <a:r>
              <a:rPr lang="en-US" sz="2800" b="1" spc="-45" dirty="0">
                <a:solidFill>
                  <a:srgbClr val="1A365D"/>
                </a:solidFill>
                <a:latin typeface="Arial"/>
                <a:cs typeface="Arial"/>
              </a:rPr>
              <a:t> </a:t>
            </a:r>
            <a:r>
              <a:rPr lang="en-US" sz="2800" b="1" spc="-10" dirty="0">
                <a:solidFill>
                  <a:srgbClr val="1A365D"/>
                </a:solidFill>
                <a:latin typeface="Arial"/>
                <a:cs typeface="Arial"/>
              </a:rPr>
              <a:t>Design</a:t>
            </a:r>
            <a:br>
              <a:rPr lang="en-US" sz="2800" dirty="0">
                <a:latin typeface="Arial"/>
                <a:cs typeface="Arial"/>
              </a:rPr>
            </a:br>
            <a:br>
              <a:rPr lang="en-US" sz="2800" dirty="0">
                <a:latin typeface="Arial"/>
                <a:cs typeface="Arial"/>
              </a:rPr>
            </a:b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C3241B-13B5-66E7-C994-23B8DDE8A4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295400"/>
            <a:ext cx="11268454" cy="5571744"/>
          </a:xfrm>
        </p:spPr>
        <p:txBody>
          <a:bodyPr/>
          <a:lstStyle/>
          <a:p>
            <a:pPr marL="12700">
              <a:spcBef>
                <a:spcPts val="275"/>
              </a:spcBef>
              <a:buClr>
                <a:srgbClr val="334154"/>
              </a:buClr>
              <a:tabLst>
                <a:tab pos="240665" algn="l"/>
              </a:tabLst>
            </a:pPr>
            <a:r>
              <a:rPr lang="en-US" b="1" dirty="0">
                <a:solidFill>
                  <a:srgbClr val="0E172A"/>
                </a:solidFill>
                <a:latin typeface="Arial"/>
                <a:cs typeface="Arial"/>
              </a:rPr>
              <a:t>Dedicated</a:t>
            </a:r>
            <a:r>
              <a:rPr lang="en-US" b="1" spc="-55" dirty="0">
                <a:solidFill>
                  <a:srgbClr val="0E172A"/>
                </a:solidFill>
                <a:latin typeface="Arial"/>
                <a:cs typeface="Arial"/>
              </a:rPr>
              <a:t> </a:t>
            </a:r>
            <a:r>
              <a:rPr lang="en-US" b="1" dirty="0">
                <a:solidFill>
                  <a:srgbClr val="0E172A"/>
                </a:solidFill>
                <a:latin typeface="Arial"/>
                <a:cs typeface="Arial"/>
              </a:rPr>
              <a:t>Target</a:t>
            </a:r>
            <a:r>
              <a:rPr lang="en-US" b="1" spc="-65" dirty="0">
                <a:solidFill>
                  <a:srgbClr val="0E172A"/>
                </a:solidFill>
                <a:latin typeface="Arial"/>
                <a:cs typeface="Arial"/>
              </a:rPr>
              <a:t> </a:t>
            </a:r>
            <a:r>
              <a:rPr lang="en-US" b="1" dirty="0">
                <a:solidFill>
                  <a:srgbClr val="0E172A"/>
                </a:solidFill>
                <a:latin typeface="Arial"/>
                <a:cs typeface="Arial"/>
              </a:rPr>
              <a:t>Environment:</a:t>
            </a:r>
            <a:r>
              <a:rPr lang="en-US" b="1" spc="-5" dirty="0">
                <a:solidFill>
                  <a:srgbClr val="0E172A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Formatted</a:t>
            </a:r>
            <a:r>
              <a:rPr lang="en-US" spc="-3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inside</a:t>
            </a:r>
            <a:r>
              <a:rPr lang="en-US" spc="-2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a</a:t>
            </a:r>
            <a:r>
              <a:rPr lang="en-US" spc="-4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</a:p>
          <a:p>
            <a:pPr marL="12700">
              <a:spcBef>
                <a:spcPts val="275"/>
              </a:spcBef>
              <a:buClr>
                <a:srgbClr val="334154"/>
              </a:buClr>
              <a:tabLst>
                <a:tab pos="240665" algn="l"/>
              </a:tabLst>
            </a:pP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structured</a:t>
            </a:r>
            <a:r>
              <a:rPr lang="en-US" spc="-3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schema</a:t>
            </a:r>
            <a:r>
              <a:rPr lang="en-US" spc="-2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designated</a:t>
            </a:r>
            <a:r>
              <a:rPr lang="en-US" spc="-3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spc="-25" dirty="0" err="1">
                <a:solidFill>
                  <a:srgbClr val="334154"/>
                </a:solidFill>
                <a:latin typeface="Arial"/>
                <a:cs typeface="Arial"/>
              </a:rPr>
              <a:t>as</a:t>
            </a:r>
            <a:r>
              <a:rPr lang="en-US" spc="-10" dirty="0" err="1">
                <a:solidFill>
                  <a:srgbClr val="334154"/>
                </a:solidFill>
                <a:latin typeface="Arial"/>
                <a:cs typeface="Arial"/>
              </a:rPr>
              <a:t>`project_output</a:t>
            </a:r>
            <a:r>
              <a:rPr lang="en-US" spc="-10" dirty="0">
                <a:solidFill>
                  <a:srgbClr val="334154"/>
                </a:solidFill>
                <a:latin typeface="Arial"/>
                <a:cs typeface="Arial"/>
              </a:rPr>
              <a:t>`.</a:t>
            </a:r>
            <a:endParaRPr lang="en-US" dirty="0">
              <a:latin typeface="Arial"/>
              <a:cs typeface="Arial"/>
            </a:endParaRPr>
          </a:p>
          <a:p>
            <a:pPr marL="12700" marR="5080">
              <a:lnSpc>
                <a:spcPct val="112700"/>
              </a:lnSpc>
              <a:spcBef>
                <a:spcPts val="5"/>
              </a:spcBef>
              <a:buClr>
                <a:srgbClr val="334154"/>
              </a:buClr>
              <a:tabLst>
                <a:tab pos="241300" algn="l"/>
              </a:tabLst>
            </a:pPr>
            <a:endParaRPr lang="en-US" spc="-10" dirty="0">
              <a:solidFill>
                <a:srgbClr val="334154"/>
              </a:solidFill>
              <a:latin typeface="Arial"/>
              <a:cs typeface="Arial"/>
            </a:endParaRPr>
          </a:p>
          <a:p>
            <a:pPr marL="12700" marR="5080">
              <a:lnSpc>
                <a:spcPct val="112700"/>
              </a:lnSpc>
              <a:spcBef>
                <a:spcPts val="5"/>
              </a:spcBef>
              <a:buClr>
                <a:srgbClr val="334154"/>
              </a:buClr>
              <a:tabLst>
                <a:tab pos="241300" algn="l"/>
              </a:tabLst>
            </a:pPr>
            <a:endParaRPr lang="en-US" b="1" dirty="0">
              <a:solidFill>
                <a:srgbClr val="0E172A"/>
              </a:solidFill>
              <a:latin typeface="Arial"/>
              <a:cs typeface="Arial"/>
            </a:endParaRPr>
          </a:p>
          <a:p>
            <a:pPr marL="12700" marR="5080">
              <a:lnSpc>
                <a:spcPct val="112700"/>
              </a:lnSpc>
              <a:spcBef>
                <a:spcPts val="5"/>
              </a:spcBef>
              <a:buClr>
                <a:srgbClr val="334154"/>
              </a:buClr>
              <a:tabLst>
                <a:tab pos="241300" algn="l"/>
              </a:tabLst>
            </a:pPr>
            <a:r>
              <a:rPr lang="en-US" b="1" dirty="0">
                <a:solidFill>
                  <a:srgbClr val="0E172A"/>
                </a:solidFill>
                <a:latin typeface="Arial"/>
                <a:cs typeface="Arial"/>
              </a:rPr>
              <a:t>Relational</a:t>
            </a:r>
            <a:r>
              <a:rPr lang="en-US" b="1" spc="-45" dirty="0">
                <a:solidFill>
                  <a:srgbClr val="0E172A"/>
                </a:solidFill>
                <a:latin typeface="Arial"/>
                <a:cs typeface="Arial"/>
              </a:rPr>
              <a:t> </a:t>
            </a:r>
            <a:r>
              <a:rPr lang="en-US" b="1" dirty="0">
                <a:solidFill>
                  <a:srgbClr val="0E172A"/>
                </a:solidFill>
                <a:latin typeface="Arial"/>
                <a:cs typeface="Arial"/>
              </a:rPr>
              <a:t>Key</a:t>
            </a:r>
            <a:r>
              <a:rPr lang="en-US" b="1" spc="-40" dirty="0">
                <a:solidFill>
                  <a:srgbClr val="0E172A"/>
                </a:solidFill>
                <a:latin typeface="Arial"/>
                <a:cs typeface="Arial"/>
              </a:rPr>
              <a:t> </a:t>
            </a:r>
            <a:r>
              <a:rPr lang="en-US" b="1" dirty="0">
                <a:solidFill>
                  <a:srgbClr val="0E172A"/>
                </a:solidFill>
                <a:latin typeface="Arial"/>
                <a:cs typeface="Arial"/>
              </a:rPr>
              <a:t>Constraints:</a:t>
            </a:r>
            <a:r>
              <a:rPr lang="en-US" b="1" spc="5" dirty="0">
                <a:solidFill>
                  <a:srgbClr val="0E172A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Strict</a:t>
            </a:r>
            <a:r>
              <a:rPr lang="en-US" spc="-2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enforcement</a:t>
            </a:r>
            <a:r>
              <a:rPr lang="en-US" spc="-4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of</a:t>
            </a:r>
            <a:r>
              <a:rPr lang="en-US" spc="-2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</a:p>
          <a:p>
            <a:pPr marL="12700" marR="5080">
              <a:lnSpc>
                <a:spcPct val="112700"/>
              </a:lnSpc>
              <a:spcBef>
                <a:spcPts val="5"/>
              </a:spcBef>
              <a:buClr>
                <a:srgbClr val="334154"/>
              </a:buClr>
              <a:tabLst>
                <a:tab pos="241300" algn="l"/>
              </a:tabLst>
            </a:pP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explicit</a:t>
            </a:r>
            <a:r>
              <a:rPr lang="en-US" spc="-2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Primary</a:t>
            </a:r>
            <a:r>
              <a:rPr lang="en-US" spc="-5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Key</a:t>
            </a:r>
            <a:r>
              <a:rPr lang="en-US" spc="-2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(PK)</a:t>
            </a:r>
            <a:r>
              <a:rPr lang="en-US" spc="-6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and</a:t>
            </a:r>
            <a:r>
              <a:rPr lang="en-US" spc="-2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spc="-10" dirty="0">
                <a:solidFill>
                  <a:srgbClr val="334154"/>
                </a:solidFill>
                <a:latin typeface="Arial"/>
                <a:cs typeface="Arial"/>
              </a:rPr>
              <a:t>Foreign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Key</a:t>
            </a:r>
            <a:r>
              <a:rPr lang="en-US" spc="-2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(FK)</a:t>
            </a:r>
            <a:r>
              <a:rPr lang="en-US" spc="-5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</a:p>
          <a:p>
            <a:pPr marL="12700" marR="5080">
              <a:lnSpc>
                <a:spcPct val="112700"/>
              </a:lnSpc>
              <a:spcBef>
                <a:spcPts val="5"/>
              </a:spcBef>
              <a:buClr>
                <a:srgbClr val="334154"/>
              </a:buClr>
              <a:tabLst>
                <a:tab pos="241300" algn="l"/>
              </a:tabLst>
            </a:pP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combinations</a:t>
            </a:r>
            <a:r>
              <a:rPr lang="en-US" spc="-4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to</a:t>
            </a:r>
            <a:r>
              <a:rPr lang="en-US" spc="-2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secure</a:t>
            </a:r>
            <a:r>
              <a:rPr lang="en-US" spc="-3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structural</a:t>
            </a:r>
            <a:r>
              <a:rPr lang="en-US" spc="-2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mapping</a:t>
            </a:r>
            <a:r>
              <a:rPr lang="en-US" spc="-1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spc="-10" dirty="0">
                <a:solidFill>
                  <a:srgbClr val="334154"/>
                </a:solidFill>
                <a:latin typeface="Arial"/>
                <a:cs typeface="Arial"/>
              </a:rPr>
              <a:t>rules.</a:t>
            </a:r>
            <a:endParaRPr lang="en-US" dirty="0">
              <a:latin typeface="Arial"/>
              <a:cs typeface="Arial"/>
            </a:endParaRPr>
          </a:p>
          <a:p>
            <a:endParaRPr lang="en-US" b="1" dirty="0">
              <a:solidFill>
                <a:srgbClr val="0E172A"/>
              </a:solidFill>
              <a:latin typeface="Arial"/>
              <a:cs typeface="Arial"/>
            </a:endParaRPr>
          </a:p>
          <a:p>
            <a:r>
              <a:rPr lang="en-US" b="1" dirty="0">
                <a:solidFill>
                  <a:srgbClr val="0E172A"/>
                </a:solidFill>
                <a:latin typeface="Arial"/>
                <a:cs typeface="Arial"/>
              </a:rPr>
              <a:t>Optimal</a:t>
            </a:r>
            <a:r>
              <a:rPr lang="en-US" b="1" spc="-40" dirty="0">
                <a:solidFill>
                  <a:srgbClr val="0E172A"/>
                </a:solidFill>
                <a:latin typeface="Arial"/>
                <a:cs typeface="Arial"/>
              </a:rPr>
              <a:t> </a:t>
            </a:r>
            <a:r>
              <a:rPr lang="en-US" b="1" dirty="0">
                <a:solidFill>
                  <a:srgbClr val="0E172A"/>
                </a:solidFill>
                <a:latin typeface="Arial"/>
                <a:cs typeface="Arial"/>
              </a:rPr>
              <a:t>Storage</a:t>
            </a:r>
            <a:r>
              <a:rPr lang="en-US" b="1" spc="-35" dirty="0">
                <a:solidFill>
                  <a:srgbClr val="0E172A"/>
                </a:solidFill>
                <a:latin typeface="Arial"/>
                <a:cs typeface="Arial"/>
              </a:rPr>
              <a:t> </a:t>
            </a:r>
            <a:r>
              <a:rPr lang="en-US" b="1" dirty="0">
                <a:solidFill>
                  <a:srgbClr val="0E172A"/>
                </a:solidFill>
                <a:latin typeface="Arial"/>
                <a:cs typeface="Arial"/>
              </a:rPr>
              <a:t>Optimization:</a:t>
            </a:r>
            <a:r>
              <a:rPr lang="en-US" b="1" spc="5" dirty="0">
                <a:solidFill>
                  <a:srgbClr val="0E172A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Structured</a:t>
            </a:r>
            <a:r>
              <a:rPr lang="en-US" spc="-2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staging</a:t>
            </a:r>
            <a:r>
              <a:rPr lang="en-US" spc="-1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tables</a:t>
            </a:r>
          </a:p>
          <a:p>
            <a:r>
              <a:rPr lang="en-US" spc="-4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stored</a:t>
            </a:r>
            <a:r>
              <a:rPr lang="en-US" spc="-3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using</a:t>
            </a:r>
            <a:r>
              <a:rPr lang="en-US" spc="-1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clean</a:t>
            </a:r>
            <a:r>
              <a:rPr lang="en-US" spc="-1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spc="-10" dirty="0">
                <a:solidFill>
                  <a:srgbClr val="334154"/>
                </a:solidFill>
                <a:latin typeface="Arial"/>
                <a:cs typeface="Arial"/>
              </a:rPr>
              <a:t>column-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oriented</a:t>
            </a:r>
            <a:r>
              <a:rPr lang="en-US" spc="-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storage parameters</a:t>
            </a:r>
            <a:r>
              <a:rPr lang="en-US" spc="-4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</a:p>
          <a:p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for</a:t>
            </a:r>
            <a:r>
              <a:rPr lang="en-US" spc="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spc="-10" dirty="0">
                <a:solidFill>
                  <a:srgbClr val="334154"/>
                </a:solidFill>
                <a:latin typeface="Arial"/>
                <a:cs typeface="Arial"/>
              </a:rPr>
              <a:t>lightning-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fast</a:t>
            </a:r>
            <a:r>
              <a:rPr lang="en-US" spc="2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spc="-10" dirty="0">
                <a:solidFill>
                  <a:srgbClr val="334154"/>
                </a:solidFill>
                <a:latin typeface="Arial"/>
                <a:cs typeface="Arial"/>
              </a:rPr>
              <a:t>querying.</a:t>
            </a:r>
            <a:endParaRPr lang="en-US" dirty="0">
              <a:latin typeface="Arial"/>
              <a:cs typeface="Arial"/>
            </a:endParaRPr>
          </a:p>
          <a:p>
            <a:endParaRPr lang="en-US" dirty="0">
              <a:latin typeface="Arial"/>
              <a:cs typeface="Arial"/>
            </a:endParaRPr>
          </a:p>
          <a:p>
            <a:endParaRPr lang="en-US" dirty="0"/>
          </a:p>
        </p:txBody>
      </p:sp>
      <p:grpSp>
        <p:nvGrpSpPr>
          <p:cNvPr id="4" name="object 3">
            <a:extLst>
              <a:ext uri="{FF2B5EF4-FFF2-40B4-BE49-F238E27FC236}">
                <a16:creationId xmlns:a16="http://schemas.microsoft.com/office/drawing/2014/main" id="{E53F1319-EA7E-4FB3-C3FB-00934746511F}"/>
              </a:ext>
            </a:extLst>
          </p:cNvPr>
          <p:cNvGrpSpPr/>
          <p:nvPr/>
        </p:nvGrpSpPr>
        <p:grpSpPr>
          <a:xfrm>
            <a:off x="5257800" y="1143000"/>
            <a:ext cx="6553199" cy="5410200"/>
            <a:chOff x="914704" y="2338451"/>
            <a:chExt cx="5946140" cy="3344784"/>
          </a:xfrm>
        </p:grpSpPr>
        <p:sp>
          <p:nvSpPr>
            <p:cNvPr id="5" name="object 4">
              <a:extLst>
                <a:ext uri="{FF2B5EF4-FFF2-40B4-BE49-F238E27FC236}">
                  <a16:creationId xmlns:a16="http://schemas.microsoft.com/office/drawing/2014/main" id="{938D4478-06BE-80C4-904A-3E01ED1548B3}"/>
                </a:ext>
              </a:extLst>
            </p:cNvPr>
            <p:cNvSpPr/>
            <p:nvPr/>
          </p:nvSpPr>
          <p:spPr>
            <a:xfrm>
              <a:off x="914704" y="2338451"/>
              <a:ext cx="5946140" cy="3344784"/>
            </a:xfrm>
            <a:custGeom>
              <a:avLst/>
              <a:gdLst/>
              <a:ahLst/>
              <a:cxnLst/>
              <a:rect l="l" t="t" r="r" b="b"/>
              <a:pathLst>
                <a:path w="5946140" h="3250565">
                  <a:moveTo>
                    <a:pt x="5945758" y="0"/>
                  </a:moveTo>
                  <a:lnTo>
                    <a:pt x="0" y="0"/>
                  </a:lnTo>
                  <a:lnTo>
                    <a:pt x="0" y="3250057"/>
                  </a:lnTo>
                  <a:lnTo>
                    <a:pt x="5945758" y="3250057"/>
                  </a:lnTo>
                  <a:lnTo>
                    <a:pt x="5945758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C89B5697-D7EE-8131-8A6E-6A4085BD0F5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2980" y="2504948"/>
              <a:ext cx="5875020" cy="2933700"/>
            </a:xfrm>
            <a:prstGeom prst="rect">
              <a:avLst/>
            </a:prstGeom>
          </p:spPr>
        </p:pic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D8247DC-CD53-E41E-2F77-8ED1B996B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7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78ADFB52-9B4B-13B9-F9B1-2C53B6B98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 Project Tech Stack: Python, PySpark, PyCharm, AWS S3, Amazon Redshift Serverless, Git, JiraJira.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15614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8E4BC-F88C-D0C9-38D4-FDAB6B395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1B49F-23E5-1575-B92E-A4A29A14C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52400"/>
            <a:ext cx="10963655" cy="1323089"/>
          </a:xfrm>
        </p:spPr>
        <p:txBody>
          <a:bodyPr/>
          <a:lstStyle/>
          <a:p>
            <a:br>
              <a:rPr lang="en-US" sz="2800" dirty="0">
                <a:latin typeface="Arial"/>
                <a:cs typeface="Arial"/>
              </a:rPr>
            </a:br>
            <a:br>
              <a:rPr lang="en-US" sz="2800" dirty="0">
                <a:latin typeface="Arial"/>
                <a:cs typeface="Arial"/>
              </a:rPr>
            </a:br>
            <a:br>
              <a:rPr lang="en-US" sz="2800" dirty="0">
                <a:latin typeface="Arial"/>
                <a:cs typeface="Arial"/>
              </a:rPr>
            </a:br>
            <a:br>
              <a:rPr lang="en-US" sz="2800" dirty="0">
                <a:latin typeface="Arial"/>
                <a:cs typeface="Arial"/>
              </a:rPr>
            </a:br>
            <a:br>
              <a:rPr lang="en-US" sz="2800" dirty="0">
                <a:latin typeface="Arial"/>
                <a:cs typeface="Arial"/>
              </a:rPr>
            </a:br>
            <a:br>
              <a:rPr lang="en-US" sz="2800" dirty="0">
                <a:latin typeface="Arial"/>
                <a:cs typeface="Arial"/>
              </a:rPr>
            </a:br>
            <a:br>
              <a:rPr lang="en-US" sz="2800" dirty="0">
                <a:latin typeface="Arial"/>
                <a:cs typeface="Arial"/>
              </a:rPr>
            </a:br>
            <a:br>
              <a:rPr lang="en-US" sz="2800" dirty="0">
                <a:latin typeface="Arial"/>
                <a:cs typeface="Arial"/>
              </a:rPr>
            </a:br>
            <a:br>
              <a:rPr lang="en-US" sz="2800" dirty="0">
                <a:latin typeface="Arial"/>
                <a:cs typeface="Arial"/>
              </a:rPr>
            </a:br>
            <a:br>
              <a:rPr lang="en-US" sz="2800" dirty="0">
                <a:latin typeface="Arial"/>
                <a:cs typeface="Arial"/>
              </a:rPr>
            </a:br>
            <a:r>
              <a:rPr lang="en-US" sz="2800" b="1" spc="-10" dirty="0">
                <a:solidFill>
                  <a:srgbClr val="1A365D"/>
                </a:solidFill>
                <a:latin typeface="Arial"/>
                <a:cs typeface="Arial"/>
              </a:rPr>
              <a:t>Analytical</a:t>
            </a:r>
            <a:r>
              <a:rPr lang="en-US" sz="2800" b="1" spc="-30" dirty="0">
                <a:solidFill>
                  <a:srgbClr val="1A365D"/>
                </a:solidFill>
                <a:latin typeface="Arial"/>
                <a:cs typeface="Arial"/>
              </a:rPr>
              <a:t> </a:t>
            </a:r>
            <a:r>
              <a:rPr lang="en-US" sz="2800" b="1" dirty="0">
                <a:solidFill>
                  <a:srgbClr val="1A365D"/>
                </a:solidFill>
                <a:latin typeface="Arial"/>
                <a:cs typeface="Arial"/>
              </a:rPr>
              <a:t>Use</a:t>
            </a:r>
            <a:r>
              <a:rPr lang="en-US" sz="2800" b="1" spc="-10" dirty="0">
                <a:solidFill>
                  <a:srgbClr val="1A365D"/>
                </a:solidFill>
                <a:latin typeface="Arial"/>
                <a:cs typeface="Arial"/>
              </a:rPr>
              <a:t> </a:t>
            </a:r>
            <a:r>
              <a:rPr lang="en-US" sz="2800" b="1" dirty="0">
                <a:solidFill>
                  <a:srgbClr val="1A365D"/>
                </a:solidFill>
                <a:latin typeface="Arial"/>
                <a:cs typeface="Arial"/>
              </a:rPr>
              <a:t>Cases</a:t>
            </a:r>
            <a:r>
              <a:rPr lang="en-US" sz="2800" b="1" spc="-10" dirty="0">
                <a:solidFill>
                  <a:srgbClr val="1A365D"/>
                </a:solidFill>
                <a:latin typeface="Arial"/>
                <a:cs typeface="Arial"/>
              </a:rPr>
              <a:t> </a:t>
            </a:r>
            <a:r>
              <a:rPr lang="en-US" sz="2800" b="1" dirty="0">
                <a:solidFill>
                  <a:srgbClr val="1A365D"/>
                </a:solidFill>
                <a:latin typeface="Arial"/>
                <a:cs typeface="Arial"/>
              </a:rPr>
              <a:t>&amp;</a:t>
            </a:r>
            <a:r>
              <a:rPr lang="en-US" sz="2800" b="1" spc="-25" dirty="0">
                <a:solidFill>
                  <a:srgbClr val="1A365D"/>
                </a:solidFill>
                <a:latin typeface="Arial"/>
                <a:cs typeface="Arial"/>
              </a:rPr>
              <a:t> </a:t>
            </a:r>
            <a:r>
              <a:rPr lang="en-US" sz="2800" b="1" dirty="0">
                <a:solidFill>
                  <a:srgbClr val="1A365D"/>
                </a:solidFill>
                <a:latin typeface="Arial"/>
                <a:cs typeface="Arial"/>
              </a:rPr>
              <a:t>Insights</a:t>
            </a:r>
            <a:r>
              <a:rPr lang="en-US" sz="2800" b="1" spc="-10" dirty="0">
                <a:solidFill>
                  <a:srgbClr val="1A365D"/>
                </a:solidFill>
                <a:latin typeface="Arial"/>
                <a:cs typeface="Arial"/>
              </a:rPr>
              <a:t> </a:t>
            </a:r>
            <a:r>
              <a:rPr lang="en-US" sz="2800" b="1" dirty="0">
                <a:solidFill>
                  <a:srgbClr val="1A365D"/>
                </a:solidFill>
                <a:latin typeface="Arial"/>
                <a:cs typeface="Arial"/>
              </a:rPr>
              <a:t>(13</a:t>
            </a:r>
            <a:r>
              <a:rPr lang="en-US" sz="2800" b="1" spc="-30" dirty="0">
                <a:solidFill>
                  <a:srgbClr val="1A365D"/>
                </a:solidFill>
                <a:latin typeface="Arial"/>
                <a:cs typeface="Arial"/>
              </a:rPr>
              <a:t> </a:t>
            </a:r>
            <a:r>
              <a:rPr lang="en-US" sz="2800" b="1" dirty="0">
                <a:solidFill>
                  <a:srgbClr val="1A365D"/>
                </a:solidFill>
                <a:latin typeface="Arial"/>
                <a:cs typeface="Arial"/>
              </a:rPr>
              <a:t>Use</a:t>
            </a:r>
            <a:r>
              <a:rPr lang="en-US" sz="2800" b="1" spc="-10" dirty="0">
                <a:solidFill>
                  <a:srgbClr val="1A365D"/>
                </a:solidFill>
                <a:latin typeface="Arial"/>
                <a:cs typeface="Arial"/>
              </a:rPr>
              <a:t> Cases)</a:t>
            </a:r>
            <a:br>
              <a:rPr lang="en-US" sz="2800" dirty="0">
                <a:latin typeface="Arial"/>
                <a:cs typeface="Arial"/>
              </a:rPr>
            </a:br>
            <a:br>
              <a:rPr lang="en-US" sz="2800" dirty="0">
                <a:latin typeface="Arial"/>
                <a:cs typeface="Arial"/>
              </a:rPr>
            </a:b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6F432-D99F-6E02-EE2E-25DE064D00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295400"/>
            <a:ext cx="11268454" cy="5571744"/>
          </a:xfrm>
        </p:spPr>
        <p:txBody>
          <a:bodyPr/>
          <a:lstStyle/>
          <a:p>
            <a:r>
              <a:rPr lang="en-US" b="1" spc="-20" dirty="0">
                <a:solidFill>
                  <a:srgbClr val="0E172A"/>
                </a:solidFill>
                <a:latin typeface="Arial"/>
                <a:cs typeface="Arial"/>
              </a:rPr>
              <a:t>High-</a:t>
            </a:r>
            <a:r>
              <a:rPr lang="en-US" b="1" dirty="0">
                <a:solidFill>
                  <a:srgbClr val="0E172A"/>
                </a:solidFill>
                <a:latin typeface="Arial"/>
                <a:cs typeface="Arial"/>
              </a:rPr>
              <a:t>Cost</a:t>
            </a:r>
            <a:r>
              <a:rPr lang="en-US" b="1" spc="-40" dirty="0">
                <a:solidFill>
                  <a:srgbClr val="0E172A"/>
                </a:solidFill>
                <a:latin typeface="Arial"/>
                <a:cs typeface="Arial"/>
              </a:rPr>
              <a:t> </a:t>
            </a:r>
            <a:r>
              <a:rPr lang="en-US" b="1" dirty="0">
                <a:solidFill>
                  <a:srgbClr val="0E172A"/>
                </a:solidFill>
                <a:latin typeface="Arial"/>
                <a:cs typeface="Arial"/>
              </a:rPr>
              <a:t>Disease</a:t>
            </a:r>
            <a:r>
              <a:rPr lang="en-US" b="1" spc="-20" dirty="0">
                <a:solidFill>
                  <a:srgbClr val="0E172A"/>
                </a:solidFill>
                <a:latin typeface="Arial"/>
                <a:cs typeface="Arial"/>
              </a:rPr>
              <a:t> </a:t>
            </a:r>
            <a:r>
              <a:rPr lang="en-US" b="1" dirty="0">
                <a:solidFill>
                  <a:srgbClr val="0E172A"/>
                </a:solidFill>
                <a:latin typeface="Arial"/>
                <a:cs typeface="Arial"/>
              </a:rPr>
              <a:t>Tracking:</a:t>
            </a:r>
            <a:r>
              <a:rPr lang="en-US" b="1" spc="-20" dirty="0">
                <a:solidFill>
                  <a:srgbClr val="0E172A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Pinpointed</a:t>
            </a:r>
            <a:r>
              <a:rPr lang="en-US" spc="-2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maximum</a:t>
            </a:r>
            <a:r>
              <a:rPr lang="en-US" spc="-3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claim</a:t>
            </a:r>
          </a:p>
          <a:p>
            <a:r>
              <a:rPr lang="en-US" spc="-6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frequencies</a:t>
            </a:r>
            <a:r>
              <a:rPr lang="en-US" spc="-2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(e.g.,</a:t>
            </a:r>
            <a:r>
              <a:rPr lang="en-US" spc="-4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spc="-10" dirty="0">
                <a:solidFill>
                  <a:srgbClr val="334154"/>
                </a:solidFill>
                <a:latin typeface="Arial"/>
                <a:cs typeface="Arial"/>
              </a:rPr>
              <a:t>Asthma).</a:t>
            </a:r>
          </a:p>
          <a:p>
            <a:endParaRPr lang="en-US" spc="-10" dirty="0">
              <a:solidFill>
                <a:srgbClr val="334154"/>
              </a:solidFill>
              <a:latin typeface="Arial"/>
              <a:cs typeface="Arial"/>
            </a:endParaRPr>
          </a:p>
          <a:p>
            <a:r>
              <a:rPr lang="en-US" b="1" dirty="0">
                <a:latin typeface="Arial"/>
                <a:cs typeface="Arial"/>
              </a:rPr>
              <a:t>Demographic Risks: </a:t>
            </a:r>
            <a:r>
              <a:rPr lang="en-US" dirty="0">
                <a:latin typeface="Arial"/>
                <a:cs typeface="Arial"/>
              </a:rPr>
              <a:t>Grouping subscribers under age 30 </a:t>
            </a:r>
          </a:p>
          <a:p>
            <a:r>
              <a:rPr lang="en-US" dirty="0">
                <a:latin typeface="Arial"/>
                <a:cs typeface="Arial"/>
              </a:rPr>
              <a:t>subscribing to subgroups.</a:t>
            </a:r>
          </a:p>
          <a:p>
            <a:endParaRPr lang="en-US" b="1" dirty="0">
              <a:latin typeface="Arial"/>
              <a:cs typeface="Arial"/>
            </a:endParaRPr>
          </a:p>
          <a:p>
            <a:r>
              <a:rPr lang="en-US" b="1" dirty="0">
                <a:latin typeface="Arial"/>
                <a:cs typeface="Arial"/>
              </a:rPr>
              <a:t>Structural Architecture: </a:t>
            </a:r>
            <a:r>
              <a:rPr lang="en-US" dirty="0">
                <a:latin typeface="Arial"/>
                <a:cs typeface="Arial"/>
              </a:rPr>
              <a:t>Mapping which macro group</a:t>
            </a:r>
          </a:p>
          <a:p>
            <a:r>
              <a:rPr lang="en-US" dirty="0">
                <a:latin typeface="Arial"/>
                <a:cs typeface="Arial"/>
              </a:rPr>
              <a:t> contains the maximum subgroup</a:t>
            </a:r>
          </a:p>
          <a:p>
            <a:r>
              <a:rPr lang="en-US" dirty="0">
                <a:latin typeface="Arial"/>
                <a:cs typeface="Arial"/>
              </a:rPr>
              <a:t>density.</a:t>
            </a:r>
          </a:p>
          <a:p>
            <a:endParaRPr lang="en-US" b="1" dirty="0"/>
          </a:p>
          <a:p>
            <a:r>
              <a:rPr lang="en-US" b="1" dirty="0"/>
              <a:t>Medical Provider Volume:</a:t>
            </a:r>
            <a:r>
              <a:rPr lang="en-US" dirty="0"/>
              <a:t> Identifying top hospitals</a:t>
            </a:r>
          </a:p>
          <a:p>
            <a:r>
              <a:rPr lang="en-US" dirty="0"/>
              <a:t> serving most patients (e.g., Manipal</a:t>
            </a:r>
          </a:p>
          <a:p>
            <a:r>
              <a:rPr lang="en-US" dirty="0"/>
              <a:t>Hospitals).</a:t>
            </a:r>
          </a:p>
          <a:p>
            <a:r>
              <a:rPr lang="en-US" b="1" dirty="0"/>
              <a:t>Operational Profitability</a:t>
            </a:r>
            <a:r>
              <a:rPr lang="en-US" dirty="0"/>
              <a:t>: Identifying the single most profit</a:t>
            </a:r>
          </a:p>
          <a:p>
            <a:r>
              <a:rPr lang="en-US" dirty="0"/>
              <a:t>able insurance group category (Profit: 4458).</a:t>
            </a: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6221D4EF-19D0-53A2-179B-90CD837580A7}"/>
              </a:ext>
            </a:extLst>
          </p:cNvPr>
          <p:cNvSpPr/>
          <p:nvPr/>
        </p:nvSpPr>
        <p:spPr>
          <a:xfrm>
            <a:off x="5257800" y="1143000"/>
            <a:ext cx="6553199" cy="5410200"/>
          </a:xfrm>
          <a:custGeom>
            <a:avLst/>
            <a:gdLst/>
            <a:ahLst/>
            <a:cxnLst/>
            <a:rect l="l" t="t" r="r" b="b"/>
            <a:pathLst>
              <a:path w="5946140" h="3250565">
                <a:moveTo>
                  <a:pt x="5945758" y="0"/>
                </a:moveTo>
                <a:lnTo>
                  <a:pt x="0" y="0"/>
                </a:lnTo>
                <a:lnTo>
                  <a:pt x="0" y="3250057"/>
                </a:lnTo>
                <a:lnTo>
                  <a:pt x="5945758" y="3250057"/>
                </a:lnTo>
                <a:lnTo>
                  <a:pt x="5945758" y="0"/>
                </a:lnTo>
                <a:close/>
              </a:path>
            </a:pathLst>
          </a:custGeom>
          <a:solidFill>
            <a:srgbClr val="F8F9F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3">
            <a:extLst>
              <a:ext uri="{FF2B5EF4-FFF2-40B4-BE49-F238E27FC236}">
                <a16:creationId xmlns:a16="http://schemas.microsoft.com/office/drawing/2014/main" id="{7721CD48-BCF7-3F90-BEF4-04743C35A3A3}"/>
              </a:ext>
            </a:extLst>
          </p:cNvPr>
          <p:cNvGrpSpPr/>
          <p:nvPr/>
        </p:nvGrpSpPr>
        <p:grpSpPr>
          <a:xfrm>
            <a:off x="5359907" y="914400"/>
            <a:ext cx="6486144" cy="5638800"/>
            <a:chOff x="914704" y="1395983"/>
            <a:chExt cx="5946140" cy="3693160"/>
          </a:xfrm>
        </p:grpSpPr>
        <p:sp>
          <p:nvSpPr>
            <p:cNvPr id="8" name="object 4">
              <a:extLst>
                <a:ext uri="{FF2B5EF4-FFF2-40B4-BE49-F238E27FC236}">
                  <a16:creationId xmlns:a16="http://schemas.microsoft.com/office/drawing/2014/main" id="{F16FD609-2D53-8F92-96F1-5B0E2B9B89CB}"/>
                </a:ext>
              </a:extLst>
            </p:cNvPr>
            <p:cNvSpPr/>
            <p:nvPr/>
          </p:nvSpPr>
          <p:spPr>
            <a:xfrm>
              <a:off x="914704" y="1396237"/>
              <a:ext cx="5946140" cy="3692525"/>
            </a:xfrm>
            <a:custGeom>
              <a:avLst/>
              <a:gdLst/>
              <a:ahLst/>
              <a:cxnLst/>
              <a:rect l="l" t="t" r="r" b="b"/>
              <a:pathLst>
                <a:path w="5946140" h="3692525">
                  <a:moveTo>
                    <a:pt x="5945758" y="0"/>
                  </a:moveTo>
                  <a:lnTo>
                    <a:pt x="0" y="0"/>
                  </a:lnTo>
                  <a:lnTo>
                    <a:pt x="0" y="3692397"/>
                  </a:lnTo>
                  <a:lnTo>
                    <a:pt x="5945758" y="3692397"/>
                  </a:lnTo>
                  <a:lnTo>
                    <a:pt x="5945758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5">
              <a:extLst>
                <a:ext uri="{FF2B5EF4-FFF2-40B4-BE49-F238E27FC236}">
                  <a16:creationId xmlns:a16="http://schemas.microsoft.com/office/drawing/2014/main" id="{8A2D2A3F-41C2-F6E2-70EF-C40B5ADBB86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2980" y="1395983"/>
              <a:ext cx="5875020" cy="3536060"/>
            </a:xfrm>
            <a:prstGeom prst="rect">
              <a:avLst/>
            </a:prstGeom>
          </p:spPr>
        </p:pic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97F52A-0F1F-EF94-383E-69DFBFE6D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8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CF0A1B2C-B5E0-2484-E85E-979738A90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Capstone Project Tech Stack: Python, PySpark, PyCharm, AWS S3, Amazon Redshift Serverless, Git, JiraJira.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4460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AA18D-E272-C655-2639-4A8548F89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67C54-9BB1-27BC-3FA0-6FC093673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52400"/>
            <a:ext cx="10963655" cy="1323089"/>
          </a:xfrm>
        </p:spPr>
        <p:txBody>
          <a:bodyPr/>
          <a:lstStyle/>
          <a:p>
            <a:br>
              <a:rPr lang="en-US" sz="2800" dirty="0">
                <a:latin typeface="Arial"/>
                <a:cs typeface="Arial"/>
              </a:rPr>
            </a:br>
            <a:br>
              <a:rPr lang="en-US" sz="2800" dirty="0">
                <a:latin typeface="Arial"/>
                <a:cs typeface="Arial"/>
              </a:rPr>
            </a:br>
            <a:br>
              <a:rPr lang="en-US" sz="2800" dirty="0">
                <a:latin typeface="Arial"/>
                <a:cs typeface="Arial"/>
              </a:rPr>
            </a:br>
            <a:br>
              <a:rPr lang="en-US" sz="2800" dirty="0">
                <a:latin typeface="Arial"/>
                <a:cs typeface="Arial"/>
              </a:rPr>
            </a:br>
            <a:br>
              <a:rPr lang="en-US" sz="2800" dirty="0">
                <a:latin typeface="Arial"/>
                <a:cs typeface="Arial"/>
              </a:rPr>
            </a:br>
            <a:br>
              <a:rPr lang="en-US" sz="2800" dirty="0">
                <a:latin typeface="Arial"/>
                <a:cs typeface="Arial"/>
              </a:rPr>
            </a:br>
            <a:br>
              <a:rPr lang="en-US" sz="2800" dirty="0">
                <a:latin typeface="Arial"/>
                <a:cs typeface="Arial"/>
              </a:rPr>
            </a:br>
            <a:br>
              <a:rPr lang="en-US" sz="2800" dirty="0">
                <a:latin typeface="Arial"/>
                <a:cs typeface="Arial"/>
              </a:rPr>
            </a:b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Project Management &amp; Version Control</a:t>
            </a:r>
            <a:br>
              <a:rPr lang="en-US" sz="2800" dirty="0">
                <a:latin typeface="Arial"/>
                <a:cs typeface="Arial"/>
              </a:rPr>
            </a:br>
            <a:br>
              <a:rPr lang="en-US" sz="2800" dirty="0">
                <a:latin typeface="Arial"/>
                <a:cs typeface="Arial"/>
              </a:rPr>
            </a:b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DED98F-61CF-88A1-B930-3FEE63E069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72" y="987552"/>
            <a:ext cx="11268454" cy="5571744"/>
          </a:xfrm>
        </p:spPr>
        <p:txBody>
          <a:bodyPr/>
          <a:lstStyle/>
          <a:p>
            <a:pPr marL="12700" marR="394970">
              <a:lnSpc>
                <a:spcPct val="112700"/>
              </a:lnSpc>
              <a:spcBef>
                <a:spcPts val="110"/>
              </a:spcBef>
              <a:buClr>
                <a:srgbClr val="334154"/>
              </a:buClr>
              <a:tabLst>
                <a:tab pos="241300" algn="l"/>
              </a:tabLst>
            </a:pPr>
            <a:r>
              <a:rPr lang="en-US" b="1" dirty="0">
                <a:solidFill>
                  <a:srgbClr val="0E172A"/>
                </a:solidFill>
                <a:latin typeface="Arial"/>
                <a:cs typeface="Arial"/>
              </a:rPr>
              <a:t>Jira</a:t>
            </a:r>
            <a:r>
              <a:rPr lang="en-US" b="1" spc="-10" dirty="0">
                <a:solidFill>
                  <a:srgbClr val="0E172A"/>
                </a:solidFill>
                <a:latin typeface="Arial"/>
                <a:cs typeface="Arial"/>
              </a:rPr>
              <a:t> </a:t>
            </a:r>
            <a:r>
              <a:rPr lang="en-US" b="1" dirty="0">
                <a:solidFill>
                  <a:srgbClr val="0E172A"/>
                </a:solidFill>
                <a:latin typeface="Arial"/>
                <a:cs typeface="Arial"/>
              </a:rPr>
              <a:t>Agile</a:t>
            </a:r>
            <a:r>
              <a:rPr lang="en-US" b="1" spc="-10" dirty="0">
                <a:solidFill>
                  <a:srgbClr val="0E172A"/>
                </a:solidFill>
                <a:latin typeface="Arial"/>
                <a:cs typeface="Arial"/>
              </a:rPr>
              <a:t> </a:t>
            </a:r>
            <a:r>
              <a:rPr lang="en-US" b="1" dirty="0">
                <a:solidFill>
                  <a:srgbClr val="0E172A"/>
                </a:solidFill>
                <a:latin typeface="Arial"/>
                <a:cs typeface="Arial"/>
              </a:rPr>
              <a:t>Framework:</a:t>
            </a:r>
            <a:r>
              <a:rPr lang="en-US" b="1" spc="-10" dirty="0">
                <a:solidFill>
                  <a:srgbClr val="0E172A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Project</a:t>
            </a:r>
            <a:r>
              <a:rPr lang="en-US" spc="-3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planned</a:t>
            </a:r>
            <a:r>
              <a:rPr lang="en-US" spc="-3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using</a:t>
            </a:r>
            <a:r>
              <a:rPr lang="en-US" spc="-3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an</a:t>
            </a:r>
            <a:r>
              <a:rPr lang="en-US" spc="-3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explicit</a:t>
            </a:r>
            <a:r>
              <a:rPr lang="en-US" spc="-3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</a:p>
          <a:p>
            <a:pPr marL="12700" marR="394970">
              <a:lnSpc>
                <a:spcPct val="112700"/>
              </a:lnSpc>
              <a:spcBef>
                <a:spcPts val="110"/>
              </a:spcBef>
              <a:buClr>
                <a:srgbClr val="334154"/>
              </a:buClr>
              <a:tabLst>
                <a:tab pos="241300" algn="l"/>
              </a:tabLst>
            </a:pP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2-week,</a:t>
            </a:r>
            <a:r>
              <a:rPr lang="en-US" spc="-3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14-day</a:t>
            </a:r>
            <a:r>
              <a:rPr lang="en-US" spc="-4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Scrum</a:t>
            </a:r>
            <a:r>
              <a:rPr lang="en-US" spc="-2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spc="-10" dirty="0">
                <a:solidFill>
                  <a:srgbClr val="334154"/>
                </a:solidFill>
                <a:latin typeface="Arial"/>
                <a:cs typeface="Arial"/>
              </a:rPr>
              <a:t>sprint timeline.</a:t>
            </a:r>
            <a:endParaRPr lang="en-US" dirty="0">
              <a:latin typeface="Arial"/>
              <a:cs typeface="Arial"/>
            </a:endParaRPr>
          </a:p>
          <a:p>
            <a:endParaRPr lang="en-US" spc="-10" dirty="0">
              <a:solidFill>
                <a:srgbClr val="334154"/>
              </a:solidFill>
              <a:latin typeface="Arial"/>
              <a:cs typeface="Arial"/>
            </a:endParaRPr>
          </a:p>
          <a:p>
            <a:r>
              <a:rPr lang="en-US" b="1" dirty="0">
                <a:solidFill>
                  <a:srgbClr val="0E172A"/>
                </a:solidFill>
                <a:latin typeface="Arial"/>
                <a:cs typeface="Arial"/>
              </a:rPr>
              <a:t>Sprint</a:t>
            </a:r>
            <a:r>
              <a:rPr lang="en-US" b="1" spc="-30" dirty="0">
                <a:solidFill>
                  <a:srgbClr val="0E172A"/>
                </a:solidFill>
                <a:latin typeface="Arial"/>
                <a:cs typeface="Arial"/>
              </a:rPr>
              <a:t> </a:t>
            </a:r>
            <a:r>
              <a:rPr lang="en-US" b="1" dirty="0">
                <a:solidFill>
                  <a:srgbClr val="0E172A"/>
                </a:solidFill>
                <a:latin typeface="Arial"/>
                <a:cs typeface="Arial"/>
              </a:rPr>
              <a:t>Partitioning:</a:t>
            </a:r>
            <a:r>
              <a:rPr lang="en-US" b="1" spc="-15" dirty="0">
                <a:solidFill>
                  <a:srgbClr val="0E172A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Week</a:t>
            </a:r>
            <a:r>
              <a:rPr lang="en-US" spc="-4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1</a:t>
            </a:r>
            <a:r>
              <a:rPr lang="en-US" spc="-3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dedicated</a:t>
            </a:r>
            <a:r>
              <a:rPr lang="en-US" spc="-3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to</a:t>
            </a:r>
            <a:r>
              <a:rPr lang="en-US" spc="-1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requirements</a:t>
            </a:r>
            <a:r>
              <a:rPr lang="en-US" spc="-4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</a:p>
          <a:p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baselines</a:t>
            </a:r>
            <a:r>
              <a:rPr lang="en-US" spc="-4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&amp;</a:t>
            </a:r>
            <a:r>
              <a:rPr lang="en-US" spc="-1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solution</a:t>
            </a:r>
            <a:r>
              <a:rPr lang="en-US" spc="-3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design;</a:t>
            </a:r>
            <a:r>
              <a:rPr lang="en-US" spc="-6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Week</a:t>
            </a:r>
            <a:r>
              <a:rPr lang="en-US" spc="-2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spc="-50" dirty="0">
                <a:solidFill>
                  <a:srgbClr val="334154"/>
                </a:solidFill>
                <a:latin typeface="Arial"/>
                <a:cs typeface="Arial"/>
              </a:rPr>
              <a:t>2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dedicated</a:t>
            </a:r>
            <a:r>
              <a:rPr lang="en-US" spc="-1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to</a:t>
            </a:r>
          </a:p>
          <a:p>
            <a:r>
              <a:rPr lang="en-US" spc="-10" dirty="0">
                <a:solidFill>
                  <a:srgbClr val="334154"/>
                </a:solidFill>
                <a:latin typeface="Arial"/>
                <a:cs typeface="Arial"/>
              </a:rPr>
              <a:t> implementation</a:t>
            </a:r>
            <a:r>
              <a:rPr lang="en-US" spc="-1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and</a:t>
            </a:r>
            <a:r>
              <a:rPr lang="en-US" spc="1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cloud</a:t>
            </a:r>
            <a:r>
              <a:rPr lang="en-US" spc="-10" dirty="0">
                <a:solidFill>
                  <a:srgbClr val="334154"/>
                </a:solidFill>
                <a:latin typeface="Arial"/>
                <a:cs typeface="Arial"/>
              </a:rPr>
              <a:t> testing.</a:t>
            </a:r>
            <a:endParaRPr lang="en-US" dirty="0">
              <a:latin typeface="Arial"/>
              <a:cs typeface="Arial"/>
            </a:endParaRPr>
          </a:p>
          <a:p>
            <a:endParaRPr lang="en-US" spc="-10" dirty="0">
              <a:solidFill>
                <a:srgbClr val="334154"/>
              </a:solidFill>
              <a:latin typeface="Arial"/>
              <a:cs typeface="Arial"/>
            </a:endParaRPr>
          </a:p>
          <a:p>
            <a:r>
              <a:rPr lang="en-US" b="1" dirty="0">
                <a:solidFill>
                  <a:srgbClr val="0E172A"/>
                </a:solidFill>
                <a:latin typeface="Arial"/>
                <a:cs typeface="Arial"/>
              </a:rPr>
              <a:t>Version</a:t>
            </a:r>
            <a:r>
              <a:rPr lang="en-US" b="1" spc="-45" dirty="0">
                <a:solidFill>
                  <a:srgbClr val="0E172A"/>
                </a:solidFill>
                <a:latin typeface="Arial"/>
                <a:cs typeface="Arial"/>
              </a:rPr>
              <a:t> </a:t>
            </a:r>
            <a:r>
              <a:rPr lang="en-US" b="1" dirty="0">
                <a:solidFill>
                  <a:srgbClr val="0E172A"/>
                </a:solidFill>
                <a:latin typeface="Arial"/>
                <a:cs typeface="Arial"/>
              </a:rPr>
              <a:t>Control</a:t>
            </a:r>
            <a:r>
              <a:rPr lang="en-US" b="1" spc="-50" dirty="0">
                <a:solidFill>
                  <a:srgbClr val="0E172A"/>
                </a:solidFill>
                <a:latin typeface="Arial"/>
                <a:cs typeface="Arial"/>
              </a:rPr>
              <a:t> </a:t>
            </a:r>
            <a:r>
              <a:rPr lang="en-US" b="1" dirty="0">
                <a:solidFill>
                  <a:srgbClr val="0E172A"/>
                </a:solidFill>
                <a:latin typeface="Arial"/>
                <a:cs typeface="Arial"/>
              </a:rPr>
              <a:t>Strategy:</a:t>
            </a:r>
            <a:r>
              <a:rPr lang="en-US" b="1" spc="-35" dirty="0">
                <a:solidFill>
                  <a:srgbClr val="0E172A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Local</a:t>
            </a:r>
            <a:r>
              <a:rPr lang="en-US" spc="-4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development</a:t>
            </a:r>
            <a:r>
              <a:rPr lang="en-US" spc="-5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organized</a:t>
            </a:r>
            <a:r>
              <a:rPr lang="en-US" spc="-5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</a:p>
          <a:p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inside</a:t>
            </a:r>
            <a:r>
              <a:rPr lang="en-US" spc="-5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PyCharm</a:t>
            </a:r>
            <a:r>
              <a:rPr lang="en-US" spc="-4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using</a:t>
            </a:r>
            <a:r>
              <a:rPr lang="en-US" spc="-3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isolated</a:t>
            </a:r>
            <a:r>
              <a:rPr lang="en-US" spc="-5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spc="-25" dirty="0">
                <a:solidFill>
                  <a:srgbClr val="334154"/>
                </a:solidFill>
                <a:latin typeface="Arial"/>
                <a:cs typeface="Arial"/>
              </a:rPr>
              <a:t>git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tracking</a:t>
            </a:r>
            <a:r>
              <a:rPr lang="en-US" spc="-3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before</a:t>
            </a:r>
            <a:r>
              <a:rPr lang="en-US" spc="-3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syncing</a:t>
            </a:r>
            <a:r>
              <a:rPr lang="en-US" spc="-3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</a:p>
          <a:p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with</a:t>
            </a:r>
            <a:r>
              <a:rPr lang="en-US" spc="-3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remote</a:t>
            </a:r>
            <a:r>
              <a:rPr lang="en-US" spc="-2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spc="-10" dirty="0">
                <a:solidFill>
                  <a:srgbClr val="334154"/>
                </a:solidFill>
                <a:latin typeface="Arial"/>
                <a:cs typeface="Arial"/>
              </a:rPr>
              <a:t>repositories.</a:t>
            </a:r>
            <a:endParaRPr lang="en-US" dirty="0">
              <a:latin typeface="Arial"/>
              <a:cs typeface="Arial"/>
            </a:endParaRPr>
          </a:p>
          <a:p>
            <a:endParaRPr lang="en-US" spc="-10" dirty="0">
              <a:solidFill>
                <a:srgbClr val="334154"/>
              </a:solidFill>
              <a:latin typeface="Arial"/>
              <a:cs typeface="Arial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4FF14CD5-FDEE-0955-AA2F-570EE1353E8B}"/>
              </a:ext>
            </a:extLst>
          </p:cNvPr>
          <p:cNvSpPr/>
          <p:nvPr/>
        </p:nvSpPr>
        <p:spPr>
          <a:xfrm>
            <a:off x="5257800" y="1143000"/>
            <a:ext cx="6553199" cy="5410200"/>
          </a:xfrm>
          <a:custGeom>
            <a:avLst/>
            <a:gdLst/>
            <a:ahLst/>
            <a:cxnLst/>
            <a:rect l="l" t="t" r="r" b="b"/>
            <a:pathLst>
              <a:path w="5946140" h="3250565">
                <a:moveTo>
                  <a:pt x="5945758" y="0"/>
                </a:moveTo>
                <a:lnTo>
                  <a:pt x="0" y="0"/>
                </a:lnTo>
                <a:lnTo>
                  <a:pt x="0" y="3250057"/>
                </a:lnTo>
                <a:lnTo>
                  <a:pt x="5945758" y="3250057"/>
                </a:lnTo>
                <a:lnTo>
                  <a:pt x="5945758" y="0"/>
                </a:lnTo>
                <a:close/>
              </a:path>
            </a:pathLst>
          </a:custGeom>
          <a:solidFill>
            <a:srgbClr val="F8F9F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3D7D11B-02C7-E88B-53BB-FD3CE9A98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9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C22E974-C5AC-BCE2-7181-6A11AD0A3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cap="none"/>
              <a:t>Capstone Project Tech Stack: Python, PySpark, PyCharm, AWS S3, Amazon Redshift Serverless, Git, JiraJira.</a:t>
            </a:r>
            <a:endParaRPr lang="en-US" cap="none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6164314-0475-25D6-EC2D-28A1F4DB6B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996824"/>
            <a:ext cx="6586726" cy="555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5834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F69A7-A920-36FC-5A39-BB9B48F76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F4E94-14F8-BE3D-8344-07667281E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52400"/>
            <a:ext cx="10963655" cy="1323089"/>
          </a:xfrm>
        </p:spPr>
        <p:txBody>
          <a:bodyPr/>
          <a:lstStyle/>
          <a:p>
            <a:br>
              <a:rPr lang="en-US" sz="2800" dirty="0">
                <a:latin typeface="Arial"/>
                <a:cs typeface="Arial"/>
              </a:rPr>
            </a:br>
            <a:br>
              <a:rPr lang="en-US" sz="2800" dirty="0">
                <a:latin typeface="Arial"/>
                <a:cs typeface="Arial"/>
              </a:rPr>
            </a:br>
            <a:br>
              <a:rPr lang="en-US" sz="2800" dirty="0">
                <a:latin typeface="Arial"/>
                <a:cs typeface="Arial"/>
              </a:rPr>
            </a:br>
            <a:br>
              <a:rPr lang="en-US" sz="2800" dirty="0">
                <a:latin typeface="Arial"/>
                <a:cs typeface="Arial"/>
              </a:rPr>
            </a:br>
            <a:br>
              <a:rPr lang="en-US" sz="2800" dirty="0">
                <a:latin typeface="Arial"/>
                <a:cs typeface="Arial"/>
              </a:rPr>
            </a:br>
            <a:br>
              <a:rPr lang="en-US" sz="2800" dirty="0">
                <a:latin typeface="Arial"/>
                <a:cs typeface="Arial"/>
              </a:rPr>
            </a:br>
            <a:br>
              <a:rPr lang="en-US" sz="2800" dirty="0">
                <a:latin typeface="Arial"/>
                <a:cs typeface="Arial"/>
              </a:rPr>
            </a:br>
            <a:br>
              <a:rPr lang="en-US" sz="2800" dirty="0">
                <a:latin typeface="Arial"/>
                <a:cs typeface="Arial"/>
              </a:rPr>
            </a:br>
            <a:br>
              <a:rPr lang="en-US" sz="2800" dirty="0">
                <a:latin typeface="Arial"/>
                <a:cs typeface="Arial"/>
              </a:rPr>
            </a:br>
            <a:br>
              <a:rPr lang="en-US" sz="2800" dirty="0">
                <a:latin typeface="Arial"/>
                <a:cs typeface="Arial"/>
              </a:rPr>
            </a:br>
            <a:br>
              <a:rPr lang="en-US" sz="2800" dirty="0">
                <a:latin typeface="Arial"/>
                <a:cs typeface="Arial"/>
              </a:rPr>
            </a:br>
            <a:r>
              <a:rPr lang="en-US" sz="2800" b="1" dirty="0">
                <a:solidFill>
                  <a:srgbClr val="1A365D"/>
                </a:solidFill>
                <a:latin typeface="Arial"/>
                <a:cs typeface="Arial"/>
              </a:rPr>
              <a:t>Future</a:t>
            </a:r>
            <a:r>
              <a:rPr lang="en-US" sz="2800" b="1" spc="-35" dirty="0">
                <a:solidFill>
                  <a:srgbClr val="1A365D"/>
                </a:solidFill>
                <a:latin typeface="Arial"/>
                <a:cs typeface="Arial"/>
              </a:rPr>
              <a:t> </a:t>
            </a:r>
            <a:r>
              <a:rPr lang="en-US" sz="2800" b="1" dirty="0">
                <a:solidFill>
                  <a:srgbClr val="1A365D"/>
                </a:solidFill>
                <a:latin typeface="Arial"/>
                <a:cs typeface="Arial"/>
              </a:rPr>
              <a:t>Scaling</a:t>
            </a:r>
            <a:r>
              <a:rPr lang="en-US" sz="2800" b="1" spc="-40" dirty="0">
                <a:solidFill>
                  <a:srgbClr val="1A365D"/>
                </a:solidFill>
                <a:latin typeface="Arial"/>
                <a:cs typeface="Arial"/>
              </a:rPr>
              <a:t> </a:t>
            </a:r>
            <a:r>
              <a:rPr lang="en-US" sz="2800" b="1" dirty="0">
                <a:solidFill>
                  <a:srgbClr val="1A365D"/>
                </a:solidFill>
                <a:latin typeface="Arial"/>
                <a:cs typeface="Arial"/>
              </a:rPr>
              <a:t>&amp;</a:t>
            </a:r>
            <a:r>
              <a:rPr lang="en-US" sz="2800" b="1" spc="-10" dirty="0">
                <a:solidFill>
                  <a:srgbClr val="1A365D"/>
                </a:solidFill>
                <a:latin typeface="Arial"/>
                <a:cs typeface="Arial"/>
              </a:rPr>
              <a:t> Enhancements</a:t>
            </a:r>
            <a:br>
              <a:rPr lang="en-US" sz="2800" dirty="0">
                <a:latin typeface="Arial"/>
                <a:cs typeface="Arial"/>
              </a:rPr>
            </a:br>
            <a:br>
              <a:rPr lang="en-US" sz="2800" dirty="0">
                <a:latin typeface="Arial"/>
                <a:cs typeface="Arial"/>
              </a:rPr>
            </a:b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6B2FE-119D-159E-4F39-FA8B90563C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72" y="987552"/>
            <a:ext cx="11268454" cy="5571744"/>
          </a:xfrm>
        </p:spPr>
        <p:txBody>
          <a:bodyPr/>
          <a:lstStyle/>
          <a:p>
            <a:endParaRPr lang="en-US" spc="-10" dirty="0">
              <a:solidFill>
                <a:srgbClr val="334154"/>
              </a:solidFill>
              <a:latin typeface="Arial"/>
              <a:cs typeface="Arial"/>
            </a:endParaRPr>
          </a:p>
          <a:p>
            <a:r>
              <a:rPr lang="en-US" b="1" spc="-10" dirty="0">
                <a:solidFill>
                  <a:srgbClr val="0E172A"/>
                </a:solidFill>
                <a:latin typeface="Arial"/>
                <a:cs typeface="Arial"/>
              </a:rPr>
              <a:t>Real-</a:t>
            </a:r>
            <a:r>
              <a:rPr lang="en-US" b="1" dirty="0">
                <a:solidFill>
                  <a:srgbClr val="0E172A"/>
                </a:solidFill>
                <a:latin typeface="Arial"/>
                <a:cs typeface="Arial"/>
              </a:rPr>
              <a:t>Time</a:t>
            </a:r>
            <a:r>
              <a:rPr lang="en-US" b="1" spc="-25" dirty="0">
                <a:solidFill>
                  <a:srgbClr val="0E172A"/>
                </a:solidFill>
                <a:latin typeface="Arial"/>
                <a:cs typeface="Arial"/>
              </a:rPr>
              <a:t> </a:t>
            </a:r>
            <a:r>
              <a:rPr lang="en-US" b="1" dirty="0">
                <a:solidFill>
                  <a:srgbClr val="0E172A"/>
                </a:solidFill>
                <a:latin typeface="Arial"/>
                <a:cs typeface="Arial"/>
              </a:rPr>
              <a:t>Event</a:t>
            </a:r>
            <a:r>
              <a:rPr lang="en-US" b="1" spc="-40" dirty="0">
                <a:solidFill>
                  <a:srgbClr val="0E172A"/>
                </a:solidFill>
                <a:latin typeface="Arial"/>
                <a:cs typeface="Arial"/>
              </a:rPr>
              <a:t> </a:t>
            </a:r>
            <a:r>
              <a:rPr lang="en-US" b="1" dirty="0">
                <a:solidFill>
                  <a:srgbClr val="0E172A"/>
                </a:solidFill>
                <a:latin typeface="Arial"/>
                <a:cs typeface="Arial"/>
              </a:rPr>
              <a:t>Processing:</a:t>
            </a:r>
            <a:r>
              <a:rPr lang="en-US" b="1" spc="-5" dirty="0">
                <a:solidFill>
                  <a:srgbClr val="0E172A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Integrating</a:t>
            </a:r>
            <a:r>
              <a:rPr lang="en-US" spc="-4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Apache</a:t>
            </a:r>
            <a:r>
              <a:rPr lang="en-US" spc="-2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Kafka</a:t>
            </a:r>
            <a:r>
              <a:rPr lang="en-US" spc="-2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</a:p>
          <a:p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to</a:t>
            </a:r>
            <a:r>
              <a:rPr lang="en-US" spc="-2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capture</a:t>
            </a:r>
            <a:r>
              <a:rPr lang="en-US" spc="-2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live</a:t>
            </a:r>
            <a:r>
              <a:rPr lang="en-US" spc="-2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hospital</a:t>
            </a:r>
            <a:r>
              <a:rPr lang="en-US" spc="-5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spc="-10" dirty="0">
                <a:solidFill>
                  <a:srgbClr val="334154"/>
                </a:solidFill>
                <a:latin typeface="Arial"/>
                <a:cs typeface="Arial"/>
              </a:rPr>
              <a:t>admission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metrics</a:t>
            </a:r>
            <a:r>
              <a:rPr lang="en-US" spc="-2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spc="-10" dirty="0">
                <a:solidFill>
                  <a:srgbClr val="334154"/>
                </a:solidFill>
                <a:latin typeface="Arial"/>
                <a:cs typeface="Arial"/>
              </a:rPr>
              <a:t>instantly.</a:t>
            </a:r>
            <a:endParaRPr lang="en-US" dirty="0">
              <a:latin typeface="Arial"/>
              <a:cs typeface="Arial"/>
            </a:endParaRPr>
          </a:p>
          <a:p>
            <a:endParaRPr lang="en-US" spc="-10" dirty="0">
              <a:solidFill>
                <a:srgbClr val="334154"/>
              </a:solidFill>
              <a:latin typeface="Arial"/>
              <a:cs typeface="Arial"/>
            </a:endParaRPr>
          </a:p>
          <a:p>
            <a:r>
              <a:rPr lang="en-US" b="1" dirty="0">
                <a:solidFill>
                  <a:srgbClr val="0E172A"/>
                </a:solidFill>
                <a:latin typeface="Arial"/>
                <a:cs typeface="Arial"/>
              </a:rPr>
              <a:t>Advanced</a:t>
            </a:r>
            <a:r>
              <a:rPr lang="en-US" b="1" spc="-30" dirty="0">
                <a:solidFill>
                  <a:srgbClr val="0E172A"/>
                </a:solidFill>
                <a:latin typeface="Arial"/>
                <a:cs typeface="Arial"/>
              </a:rPr>
              <a:t> </a:t>
            </a:r>
            <a:r>
              <a:rPr lang="en-US" b="1" dirty="0">
                <a:solidFill>
                  <a:srgbClr val="0E172A"/>
                </a:solidFill>
                <a:latin typeface="Arial"/>
                <a:cs typeface="Arial"/>
              </a:rPr>
              <a:t>BI</a:t>
            </a:r>
            <a:r>
              <a:rPr lang="en-US" b="1" spc="-45" dirty="0">
                <a:solidFill>
                  <a:srgbClr val="0E172A"/>
                </a:solidFill>
                <a:latin typeface="Arial"/>
                <a:cs typeface="Arial"/>
              </a:rPr>
              <a:t> </a:t>
            </a:r>
            <a:r>
              <a:rPr lang="en-US" b="1" dirty="0">
                <a:solidFill>
                  <a:srgbClr val="0E172A"/>
                </a:solidFill>
                <a:latin typeface="Arial"/>
                <a:cs typeface="Arial"/>
              </a:rPr>
              <a:t>Integrations:</a:t>
            </a:r>
            <a:r>
              <a:rPr lang="en-US" b="1" spc="5" dirty="0">
                <a:solidFill>
                  <a:srgbClr val="0E172A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Direct</a:t>
            </a:r>
            <a:r>
              <a:rPr lang="en-US" spc="-4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native</a:t>
            </a:r>
            <a:r>
              <a:rPr lang="en-US" spc="-3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data</a:t>
            </a:r>
            <a:r>
              <a:rPr lang="en-US" spc="-1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warehouse</a:t>
            </a:r>
          </a:p>
          <a:p>
            <a:r>
              <a:rPr lang="en-US" spc="-3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connections</a:t>
            </a:r>
            <a:r>
              <a:rPr lang="en-US" spc="-4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to</a:t>
            </a:r>
            <a:r>
              <a:rPr lang="en-US" spc="-3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tools</a:t>
            </a:r>
            <a:r>
              <a:rPr lang="en-US" spc="-2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like</a:t>
            </a:r>
            <a:r>
              <a:rPr lang="en-US" spc="-1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spc="-10" dirty="0">
                <a:solidFill>
                  <a:srgbClr val="334154"/>
                </a:solidFill>
                <a:latin typeface="Arial"/>
                <a:cs typeface="Arial"/>
              </a:rPr>
              <a:t>Tableau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or</a:t>
            </a:r>
            <a:r>
              <a:rPr lang="en-US" spc="-2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Amazon</a:t>
            </a:r>
            <a:r>
              <a:rPr lang="en-US" spc="-2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 err="1">
                <a:solidFill>
                  <a:srgbClr val="334154"/>
                </a:solidFill>
                <a:latin typeface="Arial"/>
                <a:cs typeface="Arial"/>
              </a:rPr>
              <a:t>QuickSight</a:t>
            </a:r>
            <a:r>
              <a:rPr lang="en-US" spc="-2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</a:p>
          <a:p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for</a:t>
            </a:r>
            <a:r>
              <a:rPr lang="en-US" spc="-3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spc="-10" dirty="0">
                <a:solidFill>
                  <a:srgbClr val="334154"/>
                </a:solidFill>
                <a:latin typeface="Arial"/>
                <a:cs typeface="Arial"/>
              </a:rPr>
              <a:t>dashboards.</a:t>
            </a:r>
          </a:p>
          <a:p>
            <a:endParaRPr lang="en-US" dirty="0">
              <a:latin typeface="Arial"/>
              <a:cs typeface="Arial"/>
            </a:endParaRPr>
          </a:p>
          <a:p>
            <a:r>
              <a:rPr lang="en-US" b="1" dirty="0">
                <a:solidFill>
                  <a:srgbClr val="0E172A"/>
                </a:solidFill>
                <a:latin typeface="Arial"/>
                <a:cs typeface="Arial"/>
              </a:rPr>
              <a:t>Predictive</a:t>
            </a:r>
            <a:r>
              <a:rPr lang="en-US" b="1" spc="-25" dirty="0">
                <a:solidFill>
                  <a:srgbClr val="0E172A"/>
                </a:solidFill>
                <a:latin typeface="Arial"/>
                <a:cs typeface="Arial"/>
              </a:rPr>
              <a:t> </a:t>
            </a:r>
            <a:r>
              <a:rPr lang="en-US" b="1" dirty="0">
                <a:solidFill>
                  <a:srgbClr val="0E172A"/>
                </a:solidFill>
                <a:latin typeface="Arial"/>
                <a:cs typeface="Arial"/>
              </a:rPr>
              <a:t>Machine</a:t>
            </a:r>
            <a:r>
              <a:rPr lang="en-US" b="1" spc="-20" dirty="0">
                <a:solidFill>
                  <a:srgbClr val="0E172A"/>
                </a:solidFill>
                <a:latin typeface="Arial"/>
                <a:cs typeface="Arial"/>
              </a:rPr>
              <a:t> </a:t>
            </a:r>
            <a:r>
              <a:rPr lang="en-US" b="1" dirty="0">
                <a:solidFill>
                  <a:srgbClr val="0E172A"/>
                </a:solidFill>
                <a:latin typeface="Arial"/>
                <a:cs typeface="Arial"/>
              </a:rPr>
              <a:t>Learning:</a:t>
            </a:r>
            <a:r>
              <a:rPr lang="en-US" b="1" spc="-20" dirty="0">
                <a:solidFill>
                  <a:srgbClr val="0E172A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Training</a:t>
            </a:r>
            <a:r>
              <a:rPr lang="en-US" spc="-4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predictive</a:t>
            </a:r>
            <a:r>
              <a:rPr lang="en-US" spc="-2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ML</a:t>
            </a:r>
            <a:r>
              <a:rPr lang="en-US" spc="-2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</a:p>
          <a:p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models</a:t>
            </a:r>
            <a:r>
              <a:rPr lang="en-US" spc="-2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over</a:t>
            </a:r>
            <a:r>
              <a:rPr lang="en-US" spc="-3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claim</a:t>
            </a:r>
            <a:r>
              <a:rPr lang="en-US" spc="-6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trends</a:t>
            </a:r>
            <a:r>
              <a:rPr lang="en-US" spc="-4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to</a:t>
            </a:r>
            <a:r>
              <a:rPr lang="en-US" spc="-4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spc="-10" dirty="0">
                <a:solidFill>
                  <a:srgbClr val="334154"/>
                </a:solidFill>
                <a:latin typeface="Arial"/>
                <a:cs typeface="Arial"/>
              </a:rPr>
              <a:t>predict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operational</a:t>
            </a:r>
            <a:r>
              <a:rPr lang="en-US" spc="-4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risk</a:t>
            </a:r>
            <a:r>
              <a:rPr lang="en-US" spc="-1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and</a:t>
            </a:r>
          </a:p>
          <a:p>
            <a:r>
              <a:rPr lang="en-US" spc="-2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flag</a:t>
            </a:r>
            <a:r>
              <a:rPr lang="en-US" spc="-5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spc="-10" dirty="0">
                <a:solidFill>
                  <a:srgbClr val="334154"/>
                </a:solidFill>
                <a:latin typeface="Arial"/>
                <a:cs typeface="Arial"/>
              </a:rPr>
              <a:t>fraud.</a:t>
            </a:r>
          </a:p>
          <a:p>
            <a:endParaRPr lang="en-US" b="1" dirty="0">
              <a:solidFill>
                <a:srgbClr val="0E172A"/>
              </a:solidFill>
              <a:latin typeface="Arial"/>
              <a:cs typeface="Arial"/>
            </a:endParaRPr>
          </a:p>
          <a:p>
            <a:r>
              <a:rPr lang="en-US" b="1" dirty="0">
                <a:solidFill>
                  <a:srgbClr val="0E172A"/>
                </a:solidFill>
                <a:latin typeface="Arial"/>
                <a:cs typeface="Arial"/>
              </a:rPr>
              <a:t>CI/CD</a:t>
            </a:r>
            <a:r>
              <a:rPr lang="en-US" b="1" spc="-25" dirty="0">
                <a:solidFill>
                  <a:srgbClr val="0E172A"/>
                </a:solidFill>
                <a:latin typeface="Arial"/>
                <a:cs typeface="Arial"/>
              </a:rPr>
              <a:t> </a:t>
            </a:r>
            <a:r>
              <a:rPr lang="en-US" b="1" dirty="0">
                <a:solidFill>
                  <a:srgbClr val="0E172A"/>
                </a:solidFill>
                <a:latin typeface="Arial"/>
                <a:cs typeface="Arial"/>
              </a:rPr>
              <a:t>Pipeline</a:t>
            </a:r>
            <a:r>
              <a:rPr lang="en-US" b="1" spc="5" dirty="0">
                <a:solidFill>
                  <a:srgbClr val="0E172A"/>
                </a:solidFill>
                <a:latin typeface="Arial"/>
                <a:cs typeface="Arial"/>
              </a:rPr>
              <a:t> </a:t>
            </a:r>
            <a:r>
              <a:rPr lang="en-US" b="1" spc="-10" dirty="0">
                <a:solidFill>
                  <a:srgbClr val="0E172A"/>
                </a:solidFill>
                <a:latin typeface="Arial"/>
                <a:cs typeface="Arial"/>
              </a:rPr>
              <a:t>Automation:</a:t>
            </a:r>
            <a:r>
              <a:rPr lang="en-US" b="1" spc="10" dirty="0">
                <a:solidFill>
                  <a:srgbClr val="0E172A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Deploying</a:t>
            </a:r>
            <a:r>
              <a:rPr lang="en-US" spc="-1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code</a:t>
            </a:r>
            <a:r>
              <a:rPr lang="en-US" spc="-1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via</a:t>
            </a:r>
          </a:p>
          <a:p>
            <a:r>
              <a:rPr lang="en-US" spc="-5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automated</a:t>
            </a:r>
            <a:r>
              <a:rPr lang="en-US" spc="-3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spc="-10" dirty="0">
                <a:solidFill>
                  <a:srgbClr val="334154"/>
                </a:solidFill>
                <a:latin typeface="Arial"/>
                <a:cs typeface="Arial"/>
              </a:rPr>
              <a:t>pipelines</a:t>
            </a:r>
            <a:r>
              <a:rPr lang="en-US" spc="-4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using</a:t>
            </a:r>
            <a:r>
              <a:rPr lang="en-US" spc="-1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dirty="0">
                <a:solidFill>
                  <a:srgbClr val="334154"/>
                </a:solidFill>
                <a:latin typeface="Arial"/>
                <a:cs typeface="Arial"/>
              </a:rPr>
              <a:t>GitHub</a:t>
            </a:r>
            <a:r>
              <a:rPr lang="en-US" spc="-3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spc="-10" dirty="0">
                <a:solidFill>
                  <a:srgbClr val="334154"/>
                </a:solidFill>
                <a:latin typeface="Arial"/>
                <a:cs typeface="Arial"/>
              </a:rPr>
              <a:t>Actions workflows.</a:t>
            </a:r>
            <a:endParaRPr lang="en-US" dirty="0">
              <a:latin typeface="Arial"/>
              <a:cs typeface="Arial"/>
            </a:endParaRPr>
          </a:p>
          <a:p>
            <a:endParaRPr lang="en-US" dirty="0">
              <a:latin typeface="Arial"/>
              <a:cs typeface="Arial"/>
            </a:endParaRPr>
          </a:p>
          <a:p>
            <a:endParaRPr lang="en-US" spc="-10" dirty="0">
              <a:solidFill>
                <a:srgbClr val="334154"/>
              </a:solidFill>
              <a:latin typeface="Arial"/>
              <a:cs typeface="Arial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75B80847-55D0-8A0D-B695-E4940766A736}"/>
              </a:ext>
            </a:extLst>
          </p:cNvPr>
          <p:cNvSpPr/>
          <p:nvPr/>
        </p:nvSpPr>
        <p:spPr>
          <a:xfrm>
            <a:off x="5257800" y="1143000"/>
            <a:ext cx="6553199" cy="5410200"/>
          </a:xfrm>
          <a:custGeom>
            <a:avLst/>
            <a:gdLst/>
            <a:ahLst/>
            <a:cxnLst/>
            <a:rect l="l" t="t" r="r" b="b"/>
            <a:pathLst>
              <a:path w="5946140" h="3250565">
                <a:moveTo>
                  <a:pt x="5945758" y="0"/>
                </a:moveTo>
                <a:lnTo>
                  <a:pt x="0" y="0"/>
                </a:lnTo>
                <a:lnTo>
                  <a:pt x="0" y="3250057"/>
                </a:lnTo>
                <a:lnTo>
                  <a:pt x="5945758" y="3250057"/>
                </a:lnTo>
                <a:lnTo>
                  <a:pt x="5945758" y="0"/>
                </a:lnTo>
                <a:close/>
              </a:path>
            </a:pathLst>
          </a:custGeom>
          <a:solidFill>
            <a:srgbClr val="F8F9F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3">
            <a:extLst>
              <a:ext uri="{FF2B5EF4-FFF2-40B4-BE49-F238E27FC236}">
                <a16:creationId xmlns:a16="http://schemas.microsoft.com/office/drawing/2014/main" id="{9494C7C9-7D70-8DC5-F68E-357C0CE152B4}"/>
              </a:ext>
            </a:extLst>
          </p:cNvPr>
          <p:cNvGrpSpPr/>
          <p:nvPr/>
        </p:nvGrpSpPr>
        <p:grpSpPr>
          <a:xfrm>
            <a:off x="5257800" y="1005969"/>
            <a:ext cx="6824471" cy="5943600"/>
            <a:chOff x="914704" y="2716657"/>
            <a:chExt cx="5946140" cy="4591685"/>
          </a:xfrm>
        </p:grpSpPr>
        <p:sp>
          <p:nvSpPr>
            <p:cNvPr id="8" name="object 4">
              <a:extLst>
                <a:ext uri="{FF2B5EF4-FFF2-40B4-BE49-F238E27FC236}">
                  <a16:creationId xmlns:a16="http://schemas.microsoft.com/office/drawing/2014/main" id="{2A5D9922-94C8-3DD1-DBD2-FB5F77F1D5CC}"/>
                </a:ext>
              </a:extLst>
            </p:cNvPr>
            <p:cNvSpPr/>
            <p:nvPr/>
          </p:nvSpPr>
          <p:spPr>
            <a:xfrm>
              <a:off x="914704" y="2716657"/>
              <a:ext cx="5946140" cy="4591685"/>
            </a:xfrm>
            <a:custGeom>
              <a:avLst/>
              <a:gdLst/>
              <a:ahLst/>
              <a:cxnLst/>
              <a:rect l="l" t="t" r="r" b="b"/>
              <a:pathLst>
                <a:path w="5946140" h="4591684">
                  <a:moveTo>
                    <a:pt x="5945758" y="0"/>
                  </a:moveTo>
                  <a:lnTo>
                    <a:pt x="0" y="0"/>
                  </a:lnTo>
                  <a:lnTo>
                    <a:pt x="0" y="4591558"/>
                  </a:lnTo>
                  <a:lnTo>
                    <a:pt x="5945758" y="4591558"/>
                  </a:lnTo>
                  <a:lnTo>
                    <a:pt x="5945758" y="0"/>
                  </a:lnTo>
                  <a:close/>
                </a:path>
              </a:pathLst>
            </a:custGeom>
            <a:solidFill>
              <a:srgbClr val="F8F9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5">
              <a:extLst>
                <a:ext uri="{FF2B5EF4-FFF2-40B4-BE49-F238E27FC236}">
                  <a16:creationId xmlns:a16="http://schemas.microsoft.com/office/drawing/2014/main" id="{979081D2-58B3-52C1-9B17-179EC1CCA9F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2980" y="2883789"/>
              <a:ext cx="5875020" cy="3962400"/>
            </a:xfrm>
            <a:prstGeom prst="rect">
              <a:avLst/>
            </a:prstGeom>
          </p:spPr>
        </p:pic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BC9CDE-15E5-011D-015F-13F085AB0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10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9F16EEE-28DB-C053-3874-B724F3662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cap="none"/>
              <a:t>Capstone Project Tech Stack: Python, PySpark, PyCharm, AWS S3, Amazon Redshift Serverless, Git, JiraJira.</a:t>
            </a:r>
            <a:endParaRPr lang="en-US" cap="none" dirty="0"/>
          </a:p>
        </p:txBody>
      </p:sp>
    </p:spTree>
    <p:extLst>
      <p:ext uri="{BB962C8B-B14F-4D97-AF65-F5344CB8AC3E}">
        <p14:creationId xmlns:p14="http://schemas.microsoft.com/office/powerpoint/2010/main" val="15208298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B497D-CFA1-A3B4-6D22-5C522D962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spc="-10" dirty="0">
                <a:solidFill>
                  <a:srgbClr val="1A365D"/>
                </a:solidFill>
                <a:latin typeface="Arial"/>
                <a:cs typeface="Arial"/>
              </a:rPr>
              <a:t>Conclusion</a:t>
            </a:r>
            <a:br>
              <a:rPr lang="en-US" sz="2800" dirty="0">
                <a:latin typeface="Arial"/>
                <a:cs typeface="Arial"/>
              </a:rPr>
            </a:b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4A51AD-0304-FDC4-8915-8FE72F29B7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Overall </a:t>
            </a:r>
            <a:r>
              <a:rPr lang="en-US" sz="1800" b="1" dirty="0"/>
              <a:t>:</a:t>
            </a:r>
            <a:r>
              <a:rPr lang="en-US" sz="1800" dirty="0"/>
              <a:t>This project demonstrates practical skills in designing scalable cloud-based ETL pipelines using AWS services, </a:t>
            </a:r>
            <a:r>
              <a:rPr lang="en-US" sz="1800" dirty="0" err="1"/>
              <a:t>PySpark</a:t>
            </a:r>
            <a:r>
              <a:rPr lang="en-US" sz="1800" dirty="0"/>
              <a:t> and Amazon Redshift</a:t>
            </a:r>
            <a:endParaRPr lang="en-US" sz="1800" b="1" dirty="0">
              <a:solidFill>
                <a:srgbClr val="0E172A"/>
              </a:solidFill>
              <a:latin typeface="Arial"/>
              <a:cs typeface="Arial"/>
            </a:endParaRPr>
          </a:p>
          <a:p>
            <a:r>
              <a:rPr lang="en-US" sz="1800" b="1" dirty="0">
                <a:solidFill>
                  <a:srgbClr val="0E172A"/>
                </a:solidFill>
                <a:latin typeface="Arial"/>
                <a:cs typeface="Arial"/>
              </a:rPr>
              <a:t>Successful</a:t>
            </a:r>
            <a:r>
              <a:rPr lang="en-US" sz="1800" b="1" spc="-40" dirty="0">
                <a:solidFill>
                  <a:srgbClr val="0E172A"/>
                </a:solidFill>
                <a:latin typeface="Arial"/>
                <a:cs typeface="Arial"/>
              </a:rPr>
              <a:t> </a:t>
            </a:r>
            <a:r>
              <a:rPr lang="en-US" sz="1800" b="1" dirty="0">
                <a:solidFill>
                  <a:srgbClr val="0E172A"/>
                </a:solidFill>
                <a:latin typeface="Arial"/>
                <a:cs typeface="Arial"/>
              </a:rPr>
              <a:t>Delivery:</a:t>
            </a:r>
            <a:r>
              <a:rPr lang="en-US" sz="1800" b="1" spc="20" dirty="0">
                <a:solidFill>
                  <a:srgbClr val="0E172A"/>
                </a:solidFill>
                <a:latin typeface="Arial"/>
                <a:cs typeface="Arial"/>
              </a:rPr>
              <a:t> </a:t>
            </a:r>
            <a:r>
              <a:rPr lang="en-US" sz="1800" dirty="0">
                <a:solidFill>
                  <a:srgbClr val="334154"/>
                </a:solidFill>
                <a:latin typeface="Arial"/>
                <a:cs typeface="Arial"/>
              </a:rPr>
              <a:t>Built</a:t>
            </a:r>
            <a:r>
              <a:rPr lang="en-US" sz="1800" spc="-3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sz="1800" dirty="0">
                <a:solidFill>
                  <a:srgbClr val="334154"/>
                </a:solidFill>
                <a:latin typeface="Arial"/>
                <a:cs typeface="Arial"/>
              </a:rPr>
              <a:t>a</a:t>
            </a:r>
            <a:r>
              <a:rPr lang="en-US" sz="1800" spc="-1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sz="1800" dirty="0">
                <a:solidFill>
                  <a:srgbClr val="334154"/>
                </a:solidFill>
                <a:latin typeface="Arial"/>
                <a:cs typeface="Arial"/>
              </a:rPr>
              <a:t>robust,</a:t>
            </a:r>
            <a:r>
              <a:rPr lang="en-US" sz="1800" spc="-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sz="1800" spc="-10" dirty="0">
                <a:solidFill>
                  <a:srgbClr val="334154"/>
                </a:solidFill>
                <a:latin typeface="Arial"/>
                <a:cs typeface="Arial"/>
              </a:rPr>
              <a:t>containerized</a:t>
            </a:r>
            <a:r>
              <a:rPr lang="en-US" sz="1800" spc="-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sz="1800" dirty="0">
                <a:solidFill>
                  <a:srgbClr val="334154"/>
                </a:solidFill>
                <a:latin typeface="Arial"/>
                <a:cs typeface="Arial"/>
              </a:rPr>
              <a:t>end-</a:t>
            </a:r>
            <a:r>
              <a:rPr lang="en-US" sz="1800" spc="-10" dirty="0">
                <a:solidFill>
                  <a:srgbClr val="334154"/>
                </a:solidFill>
                <a:latin typeface="Arial"/>
                <a:cs typeface="Arial"/>
              </a:rPr>
              <a:t>to-</a:t>
            </a:r>
            <a:r>
              <a:rPr lang="en-US" sz="1800" dirty="0">
                <a:solidFill>
                  <a:srgbClr val="334154"/>
                </a:solidFill>
                <a:latin typeface="Arial"/>
                <a:cs typeface="Arial"/>
              </a:rPr>
              <a:t>end</a:t>
            </a:r>
            <a:r>
              <a:rPr lang="en-US" sz="1800" spc="-2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sz="1800" dirty="0">
                <a:solidFill>
                  <a:srgbClr val="334154"/>
                </a:solidFill>
                <a:latin typeface="Arial"/>
                <a:cs typeface="Arial"/>
              </a:rPr>
              <a:t>Big</a:t>
            </a:r>
            <a:r>
              <a:rPr lang="en-US" sz="1800" spc="-1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sz="1800" dirty="0">
                <a:solidFill>
                  <a:srgbClr val="334154"/>
                </a:solidFill>
                <a:latin typeface="Arial"/>
                <a:cs typeface="Arial"/>
              </a:rPr>
              <a:t>Data</a:t>
            </a:r>
            <a:r>
              <a:rPr lang="en-US" sz="1800" spc="-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sz="1800" dirty="0">
                <a:solidFill>
                  <a:srgbClr val="334154"/>
                </a:solidFill>
                <a:latin typeface="Arial"/>
                <a:cs typeface="Arial"/>
              </a:rPr>
              <a:t>pipeline</a:t>
            </a:r>
            <a:r>
              <a:rPr lang="en-US" sz="1800" spc="-2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sz="1800" dirty="0">
                <a:solidFill>
                  <a:srgbClr val="334154"/>
                </a:solidFill>
                <a:latin typeface="Arial"/>
                <a:cs typeface="Arial"/>
              </a:rPr>
              <a:t>for</a:t>
            </a:r>
            <a:r>
              <a:rPr lang="en-US" sz="1800" spc="-2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sz="1800" spc="-25" dirty="0">
                <a:solidFill>
                  <a:srgbClr val="334154"/>
                </a:solidFill>
                <a:latin typeface="Arial"/>
                <a:cs typeface="Arial"/>
              </a:rPr>
              <a:t>the </a:t>
            </a:r>
            <a:r>
              <a:rPr lang="en-US" sz="1800" dirty="0">
                <a:solidFill>
                  <a:srgbClr val="334154"/>
                </a:solidFill>
                <a:latin typeface="Arial"/>
                <a:cs typeface="Arial"/>
              </a:rPr>
              <a:t>healthcare</a:t>
            </a:r>
            <a:r>
              <a:rPr lang="en-US" sz="1800" spc="-4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sz="1800" dirty="0">
                <a:solidFill>
                  <a:srgbClr val="334154"/>
                </a:solidFill>
                <a:latin typeface="Arial"/>
                <a:cs typeface="Arial"/>
              </a:rPr>
              <a:t>insurance</a:t>
            </a:r>
            <a:r>
              <a:rPr lang="en-US" sz="1800" spc="-4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sz="1800" spc="-10" dirty="0">
                <a:solidFill>
                  <a:srgbClr val="334154"/>
                </a:solidFill>
                <a:latin typeface="Arial"/>
                <a:cs typeface="Arial"/>
              </a:rPr>
              <a:t>sector.</a:t>
            </a:r>
            <a:endParaRPr lang="en-US" sz="1800" dirty="0">
              <a:latin typeface="Arial"/>
              <a:cs typeface="Arial"/>
            </a:endParaRPr>
          </a:p>
          <a:p>
            <a:r>
              <a:rPr lang="en-US" sz="1800" b="1" dirty="0">
                <a:solidFill>
                  <a:srgbClr val="0E172A"/>
                </a:solidFill>
                <a:latin typeface="Arial"/>
                <a:cs typeface="Arial"/>
              </a:rPr>
              <a:t>Actionable</a:t>
            </a:r>
            <a:r>
              <a:rPr lang="en-US" sz="1800" b="1" spc="-25" dirty="0">
                <a:solidFill>
                  <a:srgbClr val="0E172A"/>
                </a:solidFill>
                <a:latin typeface="Arial"/>
                <a:cs typeface="Arial"/>
              </a:rPr>
              <a:t> </a:t>
            </a:r>
            <a:r>
              <a:rPr lang="en-US" sz="1800" b="1" dirty="0">
                <a:solidFill>
                  <a:srgbClr val="0E172A"/>
                </a:solidFill>
                <a:latin typeface="Arial"/>
                <a:cs typeface="Arial"/>
              </a:rPr>
              <a:t>Insights: </a:t>
            </a:r>
            <a:r>
              <a:rPr lang="en-US" sz="1800" dirty="0">
                <a:solidFill>
                  <a:srgbClr val="334154"/>
                </a:solidFill>
                <a:latin typeface="Arial"/>
                <a:cs typeface="Arial"/>
              </a:rPr>
              <a:t>Fragmented</a:t>
            </a:r>
            <a:r>
              <a:rPr lang="en-US" sz="1800" spc="-4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sz="1800" dirty="0">
                <a:solidFill>
                  <a:srgbClr val="334154"/>
                </a:solidFill>
                <a:latin typeface="Arial"/>
                <a:cs typeface="Arial"/>
              </a:rPr>
              <a:t>raw</a:t>
            </a:r>
            <a:r>
              <a:rPr lang="en-US" sz="1800" spc="-5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sz="1800" dirty="0">
                <a:solidFill>
                  <a:srgbClr val="334154"/>
                </a:solidFill>
                <a:latin typeface="Arial"/>
                <a:cs typeface="Arial"/>
              </a:rPr>
              <a:t>files</a:t>
            </a:r>
            <a:r>
              <a:rPr lang="en-US" sz="1800" spc="-5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sz="1800" dirty="0">
                <a:solidFill>
                  <a:srgbClr val="334154"/>
                </a:solidFill>
                <a:latin typeface="Arial"/>
                <a:cs typeface="Arial"/>
              </a:rPr>
              <a:t>were</a:t>
            </a:r>
            <a:r>
              <a:rPr lang="en-US" sz="1800" spc="-4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sz="1800" dirty="0">
                <a:solidFill>
                  <a:srgbClr val="334154"/>
                </a:solidFill>
                <a:latin typeface="Arial"/>
                <a:cs typeface="Arial"/>
              </a:rPr>
              <a:t>transformed</a:t>
            </a:r>
            <a:r>
              <a:rPr lang="en-US" sz="1800" spc="-2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sz="1800" dirty="0">
                <a:solidFill>
                  <a:srgbClr val="334154"/>
                </a:solidFill>
                <a:latin typeface="Arial"/>
                <a:cs typeface="Arial"/>
              </a:rPr>
              <a:t>into</a:t>
            </a:r>
            <a:r>
              <a:rPr lang="en-US" sz="1800" spc="-2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sz="1800" dirty="0">
                <a:solidFill>
                  <a:srgbClr val="334154"/>
                </a:solidFill>
                <a:latin typeface="Arial"/>
                <a:cs typeface="Arial"/>
              </a:rPr>
              <a:t>centralized,</a:t>
            </a:r>
            <a:r>
              <a:rPr lang="en-US" sz="1800" spc="-2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sz="1800" dirty="0">
                <a:solidFill>
                  <a:srgbClr val="334154"/>
                </a:solidFill>
                <a:latin typeface="Arial"/>
                <a:cs typeface="Arial"/>
              </a:rPr>
              <a:t>high-</a:t>
            </a:r>
            <a:r>
              <a:rPr lang="en-US" sz="1800" spc="-10" dirty="0">
                <a:solidFill>
                  <a:srgbClr val="334154"/>
                </a:solidFill>
                <a:latin typeface="Arial"/>
                <a:cs typeface="Arial"/>
              </a:rPr>
              <a:t>value </a:t>
            </a:r>
            <a:r>
              <a:rPr lang="en-US" sz="1800" dirty="0">
                <a:solidFill>
                  <a:srgbClr val="334154"/>
                </a:solidFill>
                <a:latin typeface="Arial"/>
                <a:cs typeface="Arial"/>
              </a:rPr>
              <a:t>cloud</a:t>
            </a:r>
            <a:r>
              <a:rPr lang="en-US" sz="1800" spc="-4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sz="1800" dirty="0">
                <a:solidFill>
                  <a:srgbClr val="334154"/>
                </a:solidFill>
                <a:latin typeface="Arial"/>
                <a:cs typeface="Arial"/>
              </a:rPr>
              <a:t>business</a:t>
            </a:r>
            <a:r>
              <a:rPr lang="en-US" sz="1800" spc="-2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sz="1800" spc="-10" dirty="0">
                <a:solidFill>
                  <a:srgbClr val="334154"/>
                </a:solidFill>
                <a:latin typeface="Arial"/>
                <a:cs typeface="Arial"/>
              </a:rPr>
              <a:t>models.</a:t>
            </a:r>
            <a:endParaRPr lang="en-US" sz="1800" dirty="0">
              <a:latin typeface="Arial"/>
              <a:cs typeface="Arial"/>
            </a:endParaRPr>
          </a:p>
          <a:p>
            <a:r>
              <a:rPr lang="en-US" sz="1800" b="1" dirty="0">
                <a:solidFill>
                  <a:srgbClr val="0E172A"/>
                </a:solidFill>
                <a:latin typeface="Arial"/>
                <a:cs typeface="Arial"/>
              </a:rPr>
              <a:t>Measurable</a:t>
            </a:r>
            <a:r>
              <a:rPr lang="en-US" sz="1800" b="1" spc="-15" dirty="0">
                <a:solidFill>
                  <a:srgbClr val="0E172A"/>
                </a:solidFill>
                <a:latin typeface="Arial"/>
                <a:cs typeface="Arial"/>
              </a:rPr>
              <a:t> </a:t>
            </a:r>
            <a:r>
              <a:rPr lang="en-US" sz="1800" b="1" dirty="0">
                <a:solidFill>
                  <a:srgbClr val="0E172A"/>
                </a:solidFill>
                <a:latin typeface="Arial"/>
                <a:cs typeface="Arial"/>
              </a:rPr>
              <a:t>Business</a:t>
            </a:r>
            <a:r>
              <a:rPr lang="en-US" sz="1800" b="1" spc="-35" dirty="0">
                <a:solidFill>
                  <a:srgbClr val="0E172A"/>
                </a:solidFill>
                <a:latin typeface="Arial"/>
                <a:cs typeface="Arial"/>
              </a:rPr>
              <a:t> </a:t>
            </a:r>
            <a:r>
              <a:rPr lang="en-US" sz="1800" b="1" dirty="0">
                <a:solidFill>
                  <a:srgbClr val="0E172A"/>
                </a:solidFill>
                <a:latin typeface="Arial"/>
                <a:cs typeface="Arial"/>
              </a:rPr>
              <a:t>Impact:</a:t>
            </a:r>
            <a:r>
              <a:rPr lang="en-US" sz="1800" b="1" spc="15" dirty="0">
                <a:solidFill>
                  <a:srgbClr val="0E172A"/>
                </a:solidFill>
                <a:latin typeface="Arial"/>
                <a:cs typeface="Arial"/>
              </a:rPr>
              <a:t> </a:t>
            </a:r>
            <a:r>
              <a:rPr lang="en-US" sz="1800" spc="-10" dirty="0">
                <a:solidFill>
                  <a:srgbClr val="334154"/>
                </a:solidFill>
                <a:latin typeface="Arial"/>
                <a:cs typeface="Arial"/>
              </a:rPr>
              <a:t>Provides</a:t>
            </a:r>
            <a:r>
              <a:rPr lang="en-US" sz="1800" spc="-4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sz="1800" dirty="0">
                <a:solidFill>
                  <a:srgbClr val="334154"/>
                </a:solidFill>
                <a:latin typeface="Arial"/>
                <a:cs typeface="Arial"/>
              </a:rPr>
              <a:t>full</a:t>
            </a:r>
            <a:r>
              <a:rPr lang="en-US" sz="1800" spc="-2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sz="1800" dirty="0">
                <a:solidFill>
                  <a:srgbClr val="334154"/>
                </a:solidFill>
                <a:latin typeface="Arial"/>
                <a:cs typeface="Arial"/>
              </a:rPr>
              <a:t>auditing</a:t>
            </a:r>
            <a:r>
              <a:rPr lang="en-US" sz="1800" spc="-1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sz="1800" dirty="0">
                <a:solidFill>
                  <a:srgbClr val="334154"/>
                </a:solidFill>
                <a:latin typeface="Arial"/>
                <a:cs typeface="Arial"/>
              </a:rPr>
              <a:t>clarity,</a:t>
            </a:r>
            <a:r>
              <a:rPr lang="en-US" sz="1800" spc="-1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sz="1800" spc="-10" dirty="0">
                <a:solidFill>
                  <a:srgbClr val="334154"/>
                </a:solidFill>
                <a:latin typeface="Arial"/>
                <a:cs typeface="Arial"/>
              </a:rPr>
              <a:t>empowering</a:t>
            </a:r>
            <a:r>
              <a:rPr lang="en-US" sz="1800" spc="-3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sz="1800" dirty="0">
                <a:solidFill>
                  <a:srgbClr val="334154"/>
                </a:solidFill>
                <a:latin typeface="Arial"/>
                <a:cs typeface="Arial"/>
              </a:rPr>
              <a:t>immediate</a:t>
            </a:r>
            <a:r>
              <a:rPr lang="en-US" sz="1800" spc="-3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sz="1800" spc="-10" dirty="0">
                <a:solidFill>
                  <a:srgbClr val="334154"/>
                </a:solidFill>
                <a:latin typeface="Arial"/>
                <a:cs typeface="Arial"/>
              </a:rPr>
              <a:t>strategy </a:t>
            </a:r>
            <a:r>
              <a:rPr lang="en-US" sz="1800" dirty="0">
                <a:solidFill>
                  <a:srgbClr val="334154"/>
                </a:solidFill>
                <a:latin typeface="Arial"/>
                <a:cs typeface="Arial"/>
              </a:rPr>
              <a:t>modifications</a:t>
            </a:r>
            <a:r>
              <a:rPr lang="en-US" sz="1800" spc="-3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sz="1800" dirty="0">
                <a:solidFill>
                  <a:srgbClr val="334154"/>
                </a:solidFill>
                <a:latin typeface="Arial"/>
                <a:cs typeface="Arial"/>
              </a:rPr>
              <a:t>to</a:t>
            </a:r>
            <a:r>
              <a:rPr lang="en-US" sz="1800" spc="-2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sz="1800" dirty="0">
                <a:solidFill>
                  <a:srgbClr val="334154"/>
                </a:solidFill>
                <a:latin typeface="Arial"/>
                <a:cs typeface="Arial"/>
              </a:rPr>
              <a:t>enhance</a:t>
            </a:r>
            <a:r>
              <a:rPr lang="en-US" sz="1800" spc="-30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sz="1800" dirty="0">
                <a:solidFill>
                  <a:srgbClr val="334154"/>
                </a:solidFill>
                <a:latin typeface="Arial"/>
                <a:cs typeface="Arial"/>
              </a:rPr>
              <a:t>company</a:t>
            </a:r>
            <a:r>
              <a:rPr lang="en-US" sz="1800" spc="-55" dirty="0">
                <a:solidFill>
                  <a:srgbClr val="334154"/>
                </a:solidFill>
                <a:latin typeface="Arial"/>
                <a:cs typeface="Arial"/>
              </a:rPr>
              <a:t> </a:t>
            </a:r>
            <a:r>
              <a:rPr lang="en-US" sz="1800" spc="-10" dirty="0">
                <a:solidFill>
                  <a:srgbClr val="334154"/>
                </a:solidFill>
                <a:latin typeface="Arial"/>
                <a:cs typeface="Arial"/>
              </a:rPr>
              <a:t>revenue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E6EFA9-97EF-9562-8834-1B3426609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11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B270027-5F8A-2520-2647-C20B17952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cap="none"/>
              <a:t>Capstone Project Tech Stack: Python, PySpark, PyCharm, AWS S3, Amazon Redshift Serverless, Git, JiraJira.</a:t>
            </a:r>
            <a:endParaRPr lang="en-US" cap="none" dirty="0"/>
          </a:p>
        </p:txBody>
      </p:sp>
    </p:spTree>
    <p:extLst>
      <p:ext uri="{BB962C8B-B14F-4D97-AF65-F5344CB8AC3E}">
        <p14:creationId xmlns:p14="http://schemas.microsoft.com/office/powerpoint/2010/main" val="4116506057"/>
      </p:ext>
    </p:extLst>
  </p:cSld>
  <p:clrMapOvr>
    <a:masterClrMapping/>
  </p:clrMapOvr>
</p:sld>
</file>

<file path=ppt/theme/theme1.xml><?xml version="1.0" encoding="utf-8"?>
<a:theme xmlns:a="http://schemas.openxmlformats.org/drawingml/2006/main" name="Blockwork elegance">
  <a:themeElements>
    <a:clrScheme name="Blockwork Elegance- Copilot 1">
      <a:dk1>
        <a:srgbClr val="000000"/>
      </a:dk1>
      <a:lt1>
        <a:srgbClr val="FFFFFF"/>
      </a:lt1>
      <a:dk2>
        <a:srgbClr val="000102"/>
      </a:dk2>
      <a:lt2>
        <a:srgbClr val="F6F2E6"/>
      </a:lt2>
      <a:accent1>
        <a:srgbClr val="28436C"/>
      </a:accent1>
      <a:accent2>
        <a:srgbClr val="F3BC24"/>
      </a:accent2>
      <a:accent3>
        <a:srgbClr val="8E7B63"/>
      </a:accent3>
      <a:accent4>
        <a:srgbClr val="CC563B"/>
      </a:accent4>
      <a:accent5>
        <a:srgbClr val="A3452F"/>
      </a:accent5>
      <a:accent6>
        <a:srgbClr val="BB9D83"/>
      </a:accent6>
      <a:hlink>
        <a:srgbClr val="4E60DA"/>
      </a:hlink>
      <a:folHlink>
        <a:srgbClr val="4E6094"/>
      </a:folHlink>
    </a:clrScheme>
    <a:fontScheme name="Blockwork Elegance">
      <a:majorFont>
        <a:latin typeface="Bahnschrift SemiLight"/>
        <a:ea typeface=""/>
        <a:cs typeface=""/>
      </a:majorFont>
      <a:minorFont>
        <a:latin typeface="Bahnschrift Semi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ckwork elegance_fcaeb239-e0ad-43c4-9739-4084ddd7c62f_wac_v2" id="{21E82CDE-DB0F-446A-AB1C-C548E4C4E61C}" vid="{FC4C4127-EA88-45F9-9442-09B36E6C916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2" ma:contentTypeDescription="Create a new document." ma:contentTypeScope="" ma:versionID="0635a23c60cc3de58ab4c1efc88efc6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b2ec4e1d644ed04c8d3fd0ef60d056a4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  <xsd:element ref="ns2:HasDigitalSignature" minOccurs="0"/>
                <xsd:element ref="ns2:DigitalSignatureProvid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  <xsd:element name="HasDigitalSignature" ma:index="34" nillable="true" ma:displayName="Signed electronically" ma:internalName="HasDigitalSignature" ma:readOnly="true">
      <xsd:simpleType>
        <xsd:restriction base="dms:Boolean"/>
      </xsd:simpleType>
    </xsd:element>
    <xsd:element name="DigitalSignatureProvider" ma:index="35" nillable="true" ma:displayName="Signature provider" ma:internalName="DigitalSignatureProvider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EA42C18-4C38-43BB-8CE3-C963EDA9CBB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C3B381C-6232-408C-B65A-8475398E4C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DE0AE46-2EED-447A-8B24-DFD65B70D448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1a19d03a-48bc-4359-8038-5b5f6d5847c3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{512CE572-566D-463B-9502-703332916079}0f45c1b8-b519-4737-8f12-a18148944ef7-TFfcaeb239-e0ad-43c4-9739-4084ddd7c62fe496f549_win32</Template>
  <TotalTime>160</TotalTime>
  <Words>1049</Words>
  <Application>Microsoft Office PowerPoint</Application>
  <PresentationFormat>Widescreen</PresentationFormat>
  <Paragraphs>142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Bahnschrift SemiLight</vt:lpstr>
      <vt:lpstr>Blockwork elegance</vt:lpstr>
      <vt:lpstr>Healthcare Insurance Big Data Analytics Platform  End-to-End Data Engineering Capstone PROJECT  using AWS S3, PySpark, PyCharm, Amazon Redshift, GitHub, Jira  </vt:lpstr>
      <vt:lpstr> Project Overview &amp; Objectives </vt:lpstr>
      <vt:lpstr>The Business Challenge</vt:lpstr>
      <vt:lpstr>Decoupled Cloud Architecture Diagram &amp; Medallion Layers </vt:lpstr>
      <vt:lpstr>Dataset Description  </vt:lpstr>
      <vt:lpstr>      Data Cleaning &amp; Transformation Process  </vt:lpstr>
      <vt:lpstr>        AWS Redshift Target Database Design  </vt:lpstr>
      <vt:lpstr>          Analytical Use Cases &amp; Insights (13 Use Cases)  </vt:lpstr>
      <vt:lpstr>        Project Management &amp; Version Control  </vt:lpstr>
      <vt:lpstr>           Future Scaling &amp; Enhancements  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Keshab Rai</dc:creator>
  <cp:lastModifiedBy>Keshab Rai</cp:lastModifiedBy>
  <cp:revision>1</cp:revision>
  <dcterms:created xsi:type="dcterms:W3CDTF">2026-06-28T13:08:34Z</dcterms:created>
  <dcterms:modified xsi:type="dcterms:W3CDTF">2026-06-30T00:35:14Z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